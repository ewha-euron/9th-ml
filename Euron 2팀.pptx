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5" r:id="rId21"/>
    <p:sldId id="296" r:id="rId22"/>
    <p:sldId id="297" r:id="rId23"/>
    <p:sldId id="298" r:id="rId24"/>
    <p:sldId id="265" r:id="rId25"/>
    <p:sldId id="299" r:id="rId26"/>
    <p:sldId id="300" r:id="rId27"/>
    <p:sldId id="264" r:id="rId28"/>
    <p:sldId id="267" r:id="rId29"/>
    <p:sldId id="266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8" r:id="rId40"/>
    <p:sldId id="279" r:id="rId41"/>
    <p:sldId id="280" r:id="rId42"/>
    <p:sldId id="281" r:id="rId43"/>
    <p:sldId id="260" r:id="rId4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1FC0F-50C0-46EC-BFDE-035A87BA5445}" v="2" dt="2025-11-24T12:54:21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93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서 강" userId="5d45e1129a1eb5ac" providerId="LiveId" clId="{5AAB7B6B-3110-4F31-9380-7C20BBDBFAB2}"/>
    <pc:docChg chg="modSld">
      <pc:chgData name="민서 강" userId="5d45e1129a1eb5ac" providerId="LiveId" clId="{5AAB7B6B-3110-4F31-9380-7C20BBDBFAB2}" dt="2025-11-24T05:36:44.558" v="13" actId="20577"/>
      <pc:docMkLst>
        <pc:docMk/>
      </pc:docMkLst>
      <pc:sldChg chg="modSp mod">
        <pc:chgData name="민서 강" userId="5d45e1129a1eb5ac" providerId="LiveId" clId="{5AAB7B6B-3110-4F31-9380-7C20BBDBFAB2}" dt="2025-11-24T05:36:44.558" v="13" actId="20577"/>
        <pc:sldMkLst>
          <pc:docMk/>
          <pc:sldMk cId="3086722663" sldId="279"/>
        </pc:sldMkLst>
        <pc:spChg chg="mod">
          <ac:chgData name="민서 강" userId="5d45e1129a1eb5ac" providerId="LiveId" clId="{5AAB7B6B-3110-4F31-9380-7C20BBDBFAB2}" dt="2025-11-24T05:36:44.558" v="13" actId="20577"/>
          <ac:spMkLst>
            <pc:docMk/>
            <pc:sldMk cId="3086722663" sldId="279"/>
            <ac:spMk id="6" creationId="{3D3C0315-E9D8-66E4-4F4D-A658EA9F85BC}"/>
          </ac:spMkLst>
        </pc:spChg>
      </pc:sldChg>
    </pc:docChg>
  </pc:docChgLst>
  <pc:docChgLst>
    <pc:chgData name="준규 박" userId="06f6d6496284ff91" providerId="LiveId" clId="{315579C5-78D6-43A6-9302-2BFCCCA41F8C}"/>
    <pc:docChg chg="addSld delSld modSld">
      <pc:chgData name="준규 박" userId="06f6d6496284ff91" providerId="LiveId" clId="{315579C5-78D6-43A6-9302-2BFCCCA41F8C}" dt="2025-11-24T12:54:24.111" v="4" actId="2696"/>
      <pc:docMkLst>
        <pc:docMk/>
      </pc:docMkLst>
      <pc:sldChg chg="del">
        <pc:chgData name="준규 박" userId="06f6d6496284ff91" providerId="LiveId" clId="{315579C5-78D6-43A6-9302-2BFCCCA41F8C}" dt="2025-11-24T12:53:58.569" v="1" actId="2696"/>
        <pc:sldMkLst>
          <pc:docMk/>
          <pc:sldMk cId="884111841" sldId="265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3767502163" sldId="265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0" sldId="282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0" sldId="283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1711966910" sldId="284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3229801636" sldId="285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94369206" sldId="286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3806717406" sldId="287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2482825653" sldId="288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349968500" sldId="289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4249056670" sldId="290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3498263820" sldId="291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1236133773" sldId="292"/>
        </pc:sldMkLst>
      </pc:sldChg>
      <pc:sldChg chg="add">
        <pc:chgData name="준규 박" userId="06f6d6496284ff91" providerId="LiveId" clId="{315579C5-78D6-43A6-9302-2BFCCCA41F8C}" dt="2025-11-24T12:53:54.613" v="0"/>
        <pc:sldMkLst>
          <pc:docMk/>
          <pc:sldMk cId="2697905579" sldId="293"/>
        </pc:sldMkLst>
      </pc:sldChg>
      <pc:sldChg chg="new del">
        <pc:chgData name="준규 박" userId="06f6d6496284ff91" providerId="LiveId" clId="{315579C5-78D6-43A6-9302-2BFCCCA41F8C}" dt="2025-11-24T12:54:24.111" v="4" actId="2696"/>
        <pc:sldMkLst>
          <pc:docMk/>
          <pc:sldMk cId="4143898173" sldId="294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0" sldId="295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0" sldId="296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1015148488" sldId="297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413681547" sldId="298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1158115406" sldId="299"/>
        </pc:sldMkLst>
      </pc:sldChg>
      <pc:sldChg chg="add">
        <pc:chgData name="준규 박" userId="06f6d6496284ff91" providerId="LiveId" clId="{315579C5-78D6-43A6-9302-2BFCCCA41F8C}" dt="2025-11-24T12:54:21.056" v="3"/>
        <pc:sldMkLst>
          <pc:docMk/>
          <pc:sldMk cId="1165867078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44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E35F-304B-02FE-AE6D-D75C2B865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F12BB-7412-D622-B63D-4AA325E36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A27E1-9E77-C18D-74D9-E7E10B37C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A5555-F609-F92D-94FB-8F12A177CF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44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957C-6104-0FA8-361C-99093DAA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8C090-14C3-8037-13A8-B7BAE8369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5F571-E135-BDAD-F2B6-E37B70AE1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7B06D-EB1C-934F-90D1-7578D88E8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6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E61A-3322-17C9-3E8F-3E605ECB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21DED-6912-06B4-5A36-9E204FF35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488AF-8205-6439-B6F1-421866263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F4AA9-23EF-3D16-555B-D7682BEC9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58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50412-A312-0E47-023A-BE82E5AA7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58152-E500-4C8F-84FB-C2EF30A41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B00DB-6B7F-526E-CD6C-1715C8FB9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71307-0BF1-9208-B171-60AB4FB92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10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2ED4-9CBB-E503-D3ED-474ED11A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428C4-B3CB-54E9-4CB1-16DC30C38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54E45-5E5B-AEC0-F718-00C67A838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5672D-6DC0-1A9C-E170-E45A3B706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1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53C80-9F05-79A4-E801-65C2C135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FF11F-A88A-C4C7-393F-EE518AFDA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E1FF8-CD83-00E6-6C7B-96359F0C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14149-4DFD-552C-BFAD-E835119C5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02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0D61-74C3-79EA-B0FC-93776978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D0431-BEC1-3756-5F7A-0EE5636EC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19C76-6F38-87A6-5269-82AAB257A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AE25C-D158-1D1A-0FCE-F2001E4EB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97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BF1D-4170-D4C4-C14E-B1BEE5AE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E9DA8-87AE-F126-55DA-E196C58D4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488B4-14D2-7302-C9AD-4E16B2C2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BD8F4-0D16-3620-90D8-FB96257332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57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AAD1-F1AA-7A0E-15F3-680CBE90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3AA0C-3111-D630-3ECF-0B4561C23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0B6F5-D630-FC1B-D0F9-9CCB3B59D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6EA20-926B-7266-6145-50F08D9D8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52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DDD9-F6E3-7190-07D5-B672A7B0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5F438-48AD-B43D-A5D0-943EA1AD6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A6C36-873D-F0B7-14FB-499371546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64304-FAF8-FD6C-FB08-7559E7E7C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7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0889-551B-1AD8-A27A-5781C847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F5ECE-06AE-4050-8CF1-39DB3697A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906D-1B30-1B9F-CF76-E1830FFB1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AE978-B25D-9577-C030-031D19269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08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3B00-7CA8-2E7A-1749-FA810815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86FC4-657D-4B28-8B4A-FE2EB7DC7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9DC2E-F585-DC63-94A5-EC31183E4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3EA4B-EF48-6C9B-9721-04D4FA23D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26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7D02-72F7-FDB1-2C15-6E2010DE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E98E4-6ACB-2E2E-FEE2-5F9CC17BF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8CE63-D8AB-3473-5B10-A49CAE082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1F49F-7A6F-B50C-338C-90C03DA24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25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84AC-4093-6F28-9EA4-8D344AE5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AEDE6-3C86-9BAB-E777-1A8890B10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91440-3E09-11A8-9D8D-6FFE449A5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99DA2-623F-A810-5481-D35A4B7ED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2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7FB3-D010-6ADB-A766-3ABF1AC4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4E0FF-BB80-37D1-F3E9-7EAF4974F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B8D96-036C-360B-6314-EA6DFD72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C6202-6B26-142B-4DCD-989A5AB9B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92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FEEC-3474-6C2A-7D0A-038218BE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297F8-2A81-99B9-4108-C5F4CDA83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03927-B9E0-9F1E-1B11-0D7A21204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AC115-D08E-381A-D7C5-A06160DAE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23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5CA1-E708-E5A9-E959-DEC9D846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283F0-F899-0642-2823-68FA6FD90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3F652-70AE-65E9-2923-F246BE4AA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42FB-8E68-13A1-69DD-F38074E30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312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1AB8-495A-7C70-D3F7-5FA730E61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BA9DE-2EA5-C7B5-569D-1B97FF01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EF9D3-1A80-510A-6F66-6937F540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87A57-07A3-6FEB-EF95-7FC68FE5E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81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DB20-7FB9-7CAF-5C8E-39310F26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A69AF-55CD-13A2-49FD-56DB210F2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52AF0-A250-8B1E-340B-31CDC8DEB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9EC27-574C-8846-0327-9465AC896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3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7BBD-E80D-6DFE-282C-C94B4B4A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9B2E6-9615-61CD-F936-90592ABE9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9E6F0-409E-48E7-0425-93E7D63C2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B708D-8451-C7D7-3D00-D8DA74F8B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67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1132-5F60-13E0-03B2-184A5D37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D6F83-6366-9590-92A9-86AC039C6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A9A40-8B23-ACAA-D690-5470D1E1D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54779-BD53-4CEB-5A89-C8ED1E265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54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403E-25C1-46E6-1F13-29D0642F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2F21B-DF97-ABA2-5276-F9E1E58AE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A80C7-5A88-0218-D85C-C7AEB12C0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AD6A2-9122-2EB8-2F99-C724FEFA6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021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492A-3453-9DC2-4442-30A6AA8D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9F875-306F-7B5B-58E8-1648CABA1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70BCC-449D-CDC4-C67F-8743186DD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661E4-E6BF-5B28-2B98-9F5C0E70D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761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BB88-A808-8C66-D93C-B2AABC26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E24FF-9BFE-7DA5-0AEB-39CA4BA5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68433-051C-5346-B1B0-0A3421569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A553A-DF7B-5097-E77E-E5EC5DD2E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913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3B45-E1F8-39E9-6F47-1BFA5DC6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6E182-39EF-BBF1-B840-AF15C778F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3819E-82CB-8E7E-881E-E0475F701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952D5-AA34-E5C8-4A1A-702E5E780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513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9180-42A5-81FE-BE21-6F2BEBCC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A448E-F4EF-FE78-2443-C4211313C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5012C-EFCD-33F3-96F7-8225B33FF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DFAC8-4A12-542C-9F2F-CAA3D1E2F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808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1698-94B6-978B-7A2C-609BB318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C3003-7542-2BA1-4ACB-61E1DF757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6CB57-60CD-BC4B-0B14-A63BA0363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D02BA-64D9-7607-1214-E0738008F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489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6286-F02A-5675-88F4-4787E9CB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B18C5-0771-EFCC-3141-E2895C36C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2AC58-BBCA-879E-D366-FD2AC9023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CB8CD-0C1A-D8B4-E0E4-246711192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109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1C60-3303-DD07-AC12-2ABF7EFC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C849C-50FD-1726-D50F-115430ABB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8C62D-4F68-CEC0-1AA1-065148972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98D8C-DA5F-B42D-3C4F-87DCAD988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017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86C8-DF96-1A50-860E-D6BB7D8B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32FE4-E0A0-78EB-BDB4-235D17749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2B6B7-0EE9-1D81-279B-C4A68AF71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3533B-51FD-B08C-0A31-3BDF7ECD1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459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5D85-093E-1903-45D6-907BD377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2429C-7447-A219-0D49-4ACADDB1E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2F72C-A507-7F75-90A1-A23A21C69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AA37E-CC91-8529-C3C2-393C7A093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305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0587-012B-4C9B-4B53-A1F77209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DB5C1-0A3A-63AD-E9C6-6A3F7EE80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7EDDB-AE62-B631-050B-CD4CD1759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82E21-EED8-CF41-3882-08BCEE174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24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AF11-CCDF-306C-4A30-FDC352F4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6D2A7-1B4E-2DE9-9FB6-6778EC2C0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0B52B-F18C-480F-FCCE-531B147DF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1E944-425B-F12A-0CCB-D9910A87D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86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FAED-92F1-3F06-C087-A6BE7D41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30E79-0076-7FAE-E419-F4DD9F0F1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219F9-9445-8A62-385C-9709CDC9F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ECBD7-E7BA-3F4A-76A3-92A5AE4F9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857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5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B658B-BCEF-4B5C-870D-35BBC3882DBB}"/>
              </a:ext>
            </a:extLst>
          </p:cNvPr>
          <p:cNvSpPr txBox="1"/>
          <p:nvPr/>
        </p:nvSpPr>
        <p:spPr>
          <a:xfrm>
            <a:off x="661851" y="6288133"/>
            <a:ext cx="89679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8</a:t>
            </a:r>
            <a:r>
              <a:rPr lang="ko-KR" altLang="en-US" sz="88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장 텍스트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96339-CF42-4896-9AF0-3A5824BC743F}"/>
              </a:ext>
            </a:extLst>
          </p:cNvPr>
          <p:cNvSpPr txBox="1"/>
          <p:nvPr/>
        </p:nvSpPr>
        <p:spPr>
          <a:xfrm>
            <a:off x="661851" y="8183607"/>
            <a:ext cx="5815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2</a:t>
            </a:r>
            <a:r>
              <a:rPr lang="ko-KR" altLang="en-US" sz="32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팀 강민서</a:t>
            </a:r>
            <a:r>
              <a:rPr lang="en-US" altLang="ko-KR" sz="32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, </a:t>
            </a:r>
            <a:r>
              <a:rPr lang="ko-KR" altLang="en-US" sz="3200" b="1" dirty="0" err="1">
                <a:latin typeface="a아시아헤드4" panose="02020600000000000000" pitchFamily="18" charset="-127"/>
                <a:ea typeface="a아시아헤드4" panose="02020600000000000000" pitchFamily="18" charset="-127"/>
              </a:rPr>
              <a:t>박나림</a:t>
            </a:r>
            <a:r>
              <a:rPr lang="en-US" altLang="ko-KR" sz="32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, </a:t>
            </a:r>
            <a:r>
              <a:rPr lang="ko-KR" altLang="en-US" sz="3200" b="1" dirty="0">
                <a:latin typeface="a아시아헤드4" panose="02020600000000000000" pitchFamily="18" charset="-127"/>
                <a:ea typeface="a아시아헤드4" panose="02020600000000000000" pitchFamily="18" charset="-127"/>
              </a:rPr>
              <a:t>이가은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43FF19-63C9-4588-B47C-DD7A4124E3B6}"/>
              </a:ext>
            </a:extLst>
          </p:cNvPr>
          <p:cNvSpPr txBox="1"/>
          <p:nvPr/>
        </p:nvSpPr>
        <p:spPr>
          <a:xfrm>
            <a:off x="1367246" y="-91279"/>
            <a:ext cx="68710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AA229-C69A-4F14-A69F-C8D6D497C424}"/>
              </a:ext>
            </a:extLst>
          </p:cNvPr>
          <p:cNvSpPr txBox="1"/>
          <p:nvPr/>
        </p:nvSpPr>
        <p:spPr>
          <a:xfrm>
            <a:off x="1367246" y="1900383"/>
            <a:ext cx="84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#00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분석 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CE360-AAC7-4BCB-851C-F00DA443E479}"/>
              </a:ext>
            </a:extLst>
          </p:cNvPr>
          <p:cNvSpPr txBox="1"/>
          <p:nvPr/>
        </p:nvSpPr>
        <p:spPr>
          <a:xfrm>
            <a:off x="1367246" y="2824813"/>
            <a:ext cx="84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#01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분석 이해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87F30-583B-4186-81C9-FA7F6DF41AB3}"/>
              </a:ext>
            </a:extLst>
          </p:cNvPr>
          <p:cNvSpPr txBox="1"/>
          <p:nvPr/>
        </p:nvSpPr>
        <p:spPr>
          <a:xfrm>
            <a:off x="1374078" y="3749243"/>
            <a:ext cx="84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#02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정규화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B46FB-C473-4DC2-C893-1D47A8ABCC29}"/>
              </a:ext>
            </a:extLst>
          </p:cNvPr>
          <p:cNvSpPr txBox="1"/>
          <p:nvPr/>
        </p:nvSpPr>
        <p:spPr>
          <a:xfrm>
            <a:off x="1374078" y="4673673"/>
            <a:ext cx="84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#03 BOW</a:t>
            </a:r>
            <a:endParaRPr lang="ko-KR" altLang="en-US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AA0EB-2EA1-0DF2-DC81-0670F7E4BAA2}"/>
              </a:ext>
            </a:extLst>
          </p:cNvPr>
          <p:cNvSpPr txBox="1"/>
          <p:nvPr/>
        </p:nvSpPr>
        <p:spPr>
          <a:xfrm>
            <a:off x="1367243" y="5602406"/>
            <a:ext cx="84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#04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분류 실습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2CB4D-A918-A710-4ADA-B9B6EC9E59E5}"/>
              </a:ext>
            </a:extLst>
          </p:cNvPr>
          <p:cNvSpPr txBox="1"/>
          <p:nvPr/>
        </p:nvSpPr>
        <p:spPr>
          <a:xfrm>
            <a:off x="1374078" y="6526836"/>
            <a:ext cx="840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#05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감성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B5F6C-2A87-45A7-BF19-CD237E48C4C4}"/>
              </a:ext>
            </a:extLst>
          </p:cNvPr>
          <p:cNvSpPr txBox="1"/>
          <p:nvPr/>
        </p:nvSpPr>
        <p:spPr>
          <a:xfrm>
            <a:off x="77213" y="4625111"/>
            <a:ext cx="92992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8.0 </a:t>
            </a:r>
            <a:r>
              <a:rPr lang="ko-KR" altLang="en-US" sz="66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분석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97DD6-6782-4D6B-B88A-0567D2DE2EF8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 </a:t>
            </a:r>
            <a:r>
              <a:rPr lang="ko-KR" altLang="en-US" sz="60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분석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15C61-21E6-479A-AEDF-0797C60D5A55}"/>
              </a:ext>
            </a:extLst>
          </p:cNvPr>
          <p:cNvSpPr txBox="1"/>
          <p:nvPr/>
        </p:nvSpPr>
        <p:spPr>
          <a:xfrm>
            <a:off x="466137" y="1668736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분석이란</a:t>
            </a:r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?</a:t>
            </a:r>
            <a:endParaRPr lang="ko-KR" altLang="en-US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5D0A7-CF8D-42D7-9BE5-6C5EA10DCAD7}"/>
              </a:ext>
            </a:extLst>
          </p:cNvPr>
          <p:cNvSpPr txBox="1"/>
          <p:nvPr/>
        </p:nvSpPr>
        <p:spPr>
          <a:xfrm>
            <a:off x="466135" y="5142767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 </a:t>
            </a:r>
            <a:r>
              <a:rPr lang="en-US" altLang="ko-KR" sz="2800" b="1" dirty="0"/>
              <a:t>NLP vs </a:t>
            </a:r>
            <a:r>
              <a:rPr lang="ko-KR" altLang="en-US" sz="2800" b="1" dirty="0"/>
              <a:t>텍스트 분석</a:t>
            </a:r>
            <a:endParaRPr lang="ko-KR" altLang="en-US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83C64-2400-433D-96E4-21D520A36DD9}"/>
              </a:ext>
            </a:extLst>
          </p:cNvPr>
          <p:cNvSpPr txBox="1"/>
          <p:nvPr/>
        </p:nvSpPr>
        <p:spPr>
          <a:xfrm>
            <a:off x="466136" y="2257880"/>
            <a:ext cx="84869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a typeface="a아시아헤드2" panose="02020600000000000000"/>
              </a:rPr>
              <a:t>- </a:t>
            </a:r>
            <a:r>
              <a:rPr lang="ko-KR" altLang="en-US" sz="2800" dirty="0">
                <a:ea typeface="a아시아헤드2" panose="02020600000000000000"/>
              </a:rPr>
              <a:t>비정형 텍스트 데이터에서 의미 있는 정보 추출</a:t>
            </a:r>
          </a:p>
          <a:p>
            <a:r>
              <a:rPr lang="en-US" altLang="ko-KR" sz="2800" dirty="0">
                <a:ea typeface="a아시아헤드2" panose="02020600000000000000"/>
              </a:rPr>
              <a:t>- </a:t>
            </a:r>
            <a:r>
              <a:rPr lang="ko-KR" altLang="en-US" sz="2800" dirty="0" err="1">
                <a:ea typeface="a아시아헤드2" panose="02020600000000000000"/>
              </a:rPr>
              <a:t>머신러닝</a:t>
            </a:r>
            <a:r>
              <a:rPr lang="en-US" altLang="ko-KR" sz="2800" dirty="0">
                <a:ea typeface="a아시아헤드2" panose="02020600000000000000"/>
              </a:rPr>
              <a:t>·</a:t>
            </a:r>
            <a:r>
              <a:rPr lang="ko-KR" altLang="en-US" sz="2800" dirty="0">
                <a:ea typeface="a아시아헤드2" panose="02020600000000000000"/>
              </a:rPr>
              <a:t>언어 이해 기술을 활용</a:t>
            </a:r>
          </a:p>
          <a:p>
            <a:r>
              <a:rPr lang="en-US" altLang="ko-KR" sz="2800" dirty="0"/>
              <a:t>- </a:t>
            </a:r>
            <a:r>
              <a:rPr lang="ko-KR" altLang="en-US" sz="2800" dirty="0"/>
              <a:t>텍스트를 숫자 기반 피처로 변환 필요</a:t>
            </a:r>
            <a:br>
              <a:rPr lang="ko-KR" altLang="en-US" sz="2800" dirty="0"/>
            </a:br>
            <a:r>
              <a:rPr lang="ko-KR" altLang="en-US" sz="2800" dirty="0"/>
              <a:t>→ 피처 벡터화 또는 피처 추출</a:t>
            </a:r>
            <a:endParaRPr lang="en-US" altLang="ko-KR" sz="2800" dirty="0"/>
          </a:p>
          <a:p>
            <a:r>
              <a:rPr lang="en-US" altLang="ko-KR" sz="2800" dirty="0">
                <a:ea typeface="a아시아헤드2" panose="02020600000000000000"/>
              </a:rPr>
              <a:t>- NLP </a:t>
            </a:r>
            <a:r>
              <a:rPr lang="ko-KR" altLang="en-US" sz="2800" dirty="0">
                <a:ea typeface="a아시아헤드2" panose="02020600000000000000"/>
              </a:rPr>
              <a:t>기술 발전 → 더 정교한 분석 가능</a:t>
            </a: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119BDA0-C5F1-ADC1-62D7-685060181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321247"/>
              </p:ext>
            </p:extLst>
          </p:nvPr>
        </p:nvGraphicFramePr>
        <p:xfrm>
          <a:off x="466137" y="5760144"/>
          <a:ext cx="7887747" cy="162086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629249">
                  <a:extLst>
                    <a:ext uri="{9D8B030D-6E8A-4147-A177-3AD203B41FA5}">
                      <a16:colId xmlns:a16="http://schemas.microsoft.com/office/drawing/2014/main" val="766219650"/>
                    </a:ext>
                  </a:extLst>
                </a:gridCol>
                <a:gridCol w="2629249">
                  <a:extLst>
                    <a:ext uri="{9D8B030D-6E8A-4147-A177-3AD203B41FA5}">
                      <a16:colId xmlns:a16="http://schemas.microsoft.com/office/drawing/2014/main" val="2248880124"/>
                    </a:ext>
                  </a:extLst>
                </a:gridCol>
                <a:gridCol w="2629249">
                  <a:extLst>
                    <a:ext uri="{9D8B030D-6E8A-4147-A177-3AD203B41FA5}">
                      <a16:colId xmlns:a16="http://schemas.microsoft.com/office/drawing/2014/main" val="14398001"/>
                    </a:ext>
                  </a:extLst>
                </a:gridCol>
              </a:tblGrid>
              <a:tr h="5046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NLP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텍스트 분석</a:t>
                      </a:r>
                      <a:r>
                        <a:rPr lang="en-US" altLang="ko-KR" dirty="0"/>
                        <a:t>(TA)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020426"/>
                  </a:ext>
                </a:extLst>
              </a:tr>
              <a:tr h="4761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초점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언어 이해 및 처리 기술</a:t>
                      </a:r>
                      <a:endParaRPr lang="af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의미 추출 및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669919"/>
                  </a:ext>
                </a:extLst>
              </a:tr>
              <a:tr h="501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번역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질의 응답 시스템</a:t>
                      </a:r>
                      <a:endParaRPr lang="af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여론 분석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정책 전략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비즈니스 정보 추출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71461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06D23C2-C448-E5DD-1AFD-83754E863559}"/>
              </a:ext>
            </a:extLst>
          </p:cNvPr>
          <p:cNvSpPr txBox="1"/>
          <p:nvPr/>
        </p:nvSpPr>
        <p:spPr>
          <a:xfrm>
            <a:off x="346229" y="7623104"/>
            <a:ext cx="9134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400" dirty="0">
                <a:latin typeface="Batang" panose="02030600000101010101" pitchFamily="18" charset="-127"/>
                <a:ea typeface="a아시아헤드2" panose="02020600000000000000"/>
              </a:rPr>
              <a:t>☞</a:t>
            </a:r>
            <a:r>
              <a:rPr lang="en-US" altLang="ko-KR" sz="2400" dirty="0">
                <a:latin typeface="Batang" panose="02030600000101010101" pitchFamily="18" charset="-127"/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NLP</a:t>
            </a:r>
            <a:r>
              <a:rPr lang="ko-KR" altLang="en-US" sz="2400" dirty="0">
                <a:ea typeface="a아시아헤드2" panose="02020600000000000000"/>
              </a:rPr>
              <a:t>는 </a:t>
            </a:r>
            <a:r>
              <a:rPr lang="ko-KR" altLang="en-US" sz="2400" i="1" dirty="0">
                <a:ea typeface="a아시아헤드2" panose="02020600000000000000"/>
              </a:rPr>
              <a:t>언어 처리 기술 자체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en-US" altLang="ko-KR" sz="2400" dirty="0">
                <a:ea typeface="a아시아헤드2" panose="02020600000000000000"/>
              </a:rPr>
              <a:t>      </a:t>
            </a:r>
            <a:r>
              <a:rPr lang="ko-KR" altLang="en-US" sz="2400" dirty="0">
                <a:ea typeface="a아시아헤드2" panose="02020600000000000000"/>
              </a:rPr>
              <a:t>텍스트 분석은 </a:t>
            </a:r>
            <a:r>
              <a:rPr lang="ko-KR" altLang="en-US" sz="2400" i="1" dirty="0">
                <a:ea typeface="a아시아헤드2" panose="02020600000000000000"/>
              </a:rPr>
              <a:t>텍스트를 사용해 정보를 얻고 예측</a:t>
            </a:r>
            <a:r>
              <a:rPr lang="en-US" altLang="ko-KR" sz="2400" i="1" dirty="0">
                <a:ea typeface="a아시아헤드2" panose="02020600000000000000"/>
              </a:rPr>
              <a:t>/</a:t>
            </a:r>
            <a:r>
              <a:rPr lang="ko-KR" altLang="en-US" sz="2400" i="1" dirty="0">
                <a:ea typeface="a아시아헤드2" panose="02020600000000000000"/>
              </a:rPr>
              <a:t>분석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ko-KR" altLang="en-US" sz="2400" dirty="0">
                <a:ea typeface="a아시아헤드2" panose="02020600000000000000"/>
              </a:rPr>
              <a:t>     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둘은 상호 보완 관계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endParaRPr lang="ko-KR" altLang="en-US" sz="2400" dirty="0">
              <a:ea typeface="a아시아헤드2" panose="0202060000000000000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AACC0-7E78-B053-185C-9C6F295B60AB}"/>
              </a:ext>
            </a:extLst>
          </p:cNvPr>
          <p:cNvSpPr txBox="1"/>
          <p:nvPr/>
        </p:nvSpPr>
        <p:spPr>
          <a:xfrm>
            <a:off x="8953129" y="1668736"/>
            <a:ext cx="2908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#3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활용 분야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EE12FE9-8B39-5225-A5A6-FC17529EF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611518"/>
              </p:ext>
            </p:extLst>
          </p:nvPr>
        </p:nvGraphicFramePr>
        <p:xfrm>
          <a:off x="11640519" y="1668736"/>
          <a:ext cx="5089034" cy="351451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544517">
                  <a:extLst>
                    <a:ext uri="{9D8B030D-6E8A-4147-A177-3AD203B41FA5}">
                      <a16:colId xmlns:a16="http://schemas.microsoft.com/office/drawing/2014/main" val="766219650"/>
                    </a:ext>
                  </a:extLst>
                </a:gridCol>
                <a:gridCol w="2544517">
                  <a:extLst>
                    <a:ext uri="{9D8B030D-6E8A-4147-A177-3AD203B41FA5}">
                      <a16:colId xmlns:a16="http://schemas.microsoft.com/office/drawing/2014/main" val="2248880124"/>
                    </a:ext>
                  </a:extLst>
                </a:gridCol>
              </a:tblGrid>
              <a:tr h="32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실무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연구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020426"/>
                  </a:ext>
                </a:extLst>
              </a:tr>
              <a:tr h="3218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스팸 필터링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사회동향 분석</a:t>
                      </a: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669919"/>
                  </a:ext>
                </a:extLst>
              </a:tr>
              <a:tr h="322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이슈 검출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트래킹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이슈 </a:t>
                      </a:r>
                      <a:r>
                        <a:rPr lang="ko-KR" altLang="en-US" dirty="0" err="1"/>
                        <a:t>트래킹</a:t>
                      </a: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714614"/>
                  </a:ext>
                </a:extLst>
              </a:tr>
              <a:tr h="3226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정보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온라인 행동 분석</a:t>
                      </a: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319633"/>
                  </a:ext>
                </a:extLst>
              </a:tr>
              <a:tr h="512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자살률 예측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연구분야 탐색</a:t>
                      </a: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86755"/>
                  </a:ext>
                </a:extLst>
              </a:tr>
              <a:tr h="512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주가 예측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질병관계 예측</a:t>
                      </a: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91576"/>
                  </a:ext>
                </a:extLst>
              </a:tr>
              <a:tr h="512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소비자 인식 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정책전략 수립</a:t>
                      </a: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118679"/>
                  </a:ext>
                </a:extLst>
              </a:tr>
              <a:tr h="512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경쟁사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af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2631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2605A67-D68C-C5D4-0002-4D3D9D9FFC75}"/>
              </a:ext>
            </a:extLst>
          </p:cNvPr>
          <p:cNvSpPr txBox="1"/>
          <p:nvPr/>
        </p:nvSpPr>
        <p:spPr>
          <a:xfrm>
            <a:off x="8953129" y="5622934"/>
            <a:ext cx="337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#4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주요 기술 영역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8BF8F0-0469-A515-FC05-0830B50BA775}"/>
              </a:ext>
            </a:extLst>
          </p:cNvPr>
          <p:cNvSpPr txBox="1"/>
          <p:nvPr/>
        </p:nvSpPr>
        <p:spPr>
          <a:xfrm>
            <a:off x="8953129" y="6279504"/>
            <a:ext cx="43628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b="1" dirty="0">
                <a:ea typeface="a아시아헤드2" panose="02020600000000000000"/>
              </a:rPr>
              <a:t>텍스트 분류 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문서를 특정 카테고리로 분류</a:t>
            </a:r>
          </a:p>
          <a:p>
            <a:r>
              <a:rPr lang="ko-KR" altLang="en-US" sz="2400" dirty="0">
                <a:ea typeface="a아시아헤드2" panose="02020600000000000000"/>
              </a:rPr>
              <a:t>예</a:t>
            </a:r>
            <a:r>
              <a:rPr lang="en-US" altLang="ko-KR" sz="2400" dirty="0">
                <a:ea typeface="a아시아헤드2" panose="02020600000000000000"/>
              </a:rPr>
              <a:t>) </a:t>
            </a:r>
            <a:r>
              <a:rPr lang="ko-KR" altLang="en-US" sz="2400" dirty="0">
                <a:ea typeface="a아시아헤드2" panose="02020600000000000000"/>
              </a:rPr>
              <a:t>스팸 탐지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뉴스 분류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ko-KR" altLang="en-US" sz="2400" dirty="0">
                <a:ea typeface="a아시아헤드2" panose="02020600000000000000"/>
              </a:rPr>
              <a:t>→ 지도학습 기반</a:t>
            </a:r>
            <a:endParaRPr lang="en-US" altLang="ko-KR" sz="2400" dirty="0">
              <a:ea typeface="a아시아헤드2" panose="02020600000000000000"/>
            </a:endParaRPr>
          </a:p>
          <a:p>
            <a:endParaRPr lang="ko-KR" altLang="en-US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2. </a:t>
            </a:r>
            <a:r>
              <a:rPr lang="ko-KR" altLang="en-US" sz="2400" b="1" dirty="0">
                <a:ea typeface="a아시아헤드2" panose="02020600000000000000"/>
              </a:rPr>
              <a:t>감성 분석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텍스트에 담긴 감정</a:t>
            </a:r>
            <a:r>
              <a:rPr lang="en-US" altLang="ko-KR" sz="2400" dirty="0">
                <a:ea typeface="a아시아헤드2" panose="02020600000000000000"/>
              </a:rPr>
              <a:t>·</a:t>
            </a:r>
            <a:r>
              <a:rPr lang="ko-KR" altLang="en-US" sz="2400" dirty="0">
                <a:ea typeface="a아시아헤드2" panose="02020600000000000000"/>
              </a:rPr>
              <a:t>의견 분석</a:t>
            </a:r>
          </a:p>
          <a:p>
            <a:r>
              <a:rPr lang="ko-KR" altLang="en-US" sz="2400" dirty="0">
                <a:ea typeface="a아시아헤드2" panose="02020600000000000000"/>
              </a:rPr>
              <a:t>예</a:t>
            </a:r>
            <a:r>
              <a:rPr lang="en-US" altLang="ko-KR" sz="2400" dirty="0">
                <a:ea typeface="a아시아헤드2" panose="02020600000000000000"/>
              </a:rPr>
              <a:t>) SNS </a:t>
            </a:r>
            <a:r>
              <a:rPr lang="ko-KR" altLang="en-US" sz="2400" dirty="0" err="1">
                <a:ea typeface="a아시아헤드2" panose="02020600000000000000"/>
              </a:rPr>
              <a:t>긍</a:t>
            </a:r>
            <a:r>
              <a:rPr lang="en-US" altLang="ko-KR" sz="2400" dirty="0">
                <a:ea typeface="a아시아헤드2" panose="02020600000000000000"/>
              </a:rPr>
              <a:t>/</a:t>
            </a:r>
            <a:r>
              <a:rPr lang="ko-KR" altLang="en-US" sz="2400" dirty="0">
                <a:ea typeface="a아시아헤드2" panose="02020600000000000000"/>
              </a:rPr>
              <a:t>부정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리뷰 분석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ko-KR" altLang="en-US" sz="2400" dirty="0">
                <a:ea typeface="a아시아헤드2" panose="02020600000000000000"/>
              </a:rPr>
              <a:t>→ 지도</a:t>
            </a:r>
            <a:r>
              <a:rPr lang="en-US" altLang="ko-KR" sz="2400" dirty="0">
                <a:ea typeface="a아시아헤드2" panose="02020600000000000000"/>
              </a:rPr>
              <a:t>/</a:t>
            </a:r>
            <a:r>
              <a:rPr lang="ko-KR" altLang="en-US" sz="2400" dirty="0">
                <a:ea typeface="a아시아헤드2" panose="02020600000000000000"/>
              </a:rPr>
              <a:t>비지도 모두 활용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57816F-8844-33DA-77D1-045B64627FC6}"/>
              </a:ext>
            </a:extLst>
          </p:cNvPr>
          <p:cNvSpPr txBox="1"/>
          <p:nvPr/>
        </p:nvSpPr>
        <p:spPr>
          <a:xfrm>
            <a:off x="13476650" y="6279504"/>
            <a:ext cx="389694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3. </a:t>
            </a:r>
            <a:r>
              <a:rPr lang="ko-KR" altLang="en-US" sz="2400" b="1" dirty="0">
                <a:ea typeface="a아시아헤드2" panose="02020600000000000000"/>
              </a:rPr>
              <a:t>텍스트 요약 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핵심 주제</a:t>
            </a:r>
            <a:r>
              <a:rPr lang="en-US" altLang="ko-KR" sz="2400" dirty="0">
                <a:ea typeface="a아시아헤드2" panose="02020600000000000000"/>
              </a:rPr>
              <a:t>·</a:t>
            </a:r>
            <a:r>
              <a:rPr lang="ko-KR" altLang="en-US" sz="2400" dirty="0">
                <a:ea typeface="a아시아헤드2" panose="02020600000000000000"/>
              </a:rPr>
              <a:t>내용 자동 추출</a:t>
            </a:r>
          </a:p>
          <a:p>
            <a:r>
              <a:rPr lang="ko-KR" altLang="en-US" sz="2400" dirty="0">
                <a:ea typeface="a아시아헤드2" panose="02020600000000000000"/>
              </a:rPr>
              <a:t>예</a:t>
            </a:r>
            <a:r>
              <a:rPr lang="en-US" altLang="ko-KR" sz="2400" dirty="0">
                <a:ea typeface="a아시아헤드2" panose="02020600000000000000"/>
              </a:rPr>
              <a:t>) </a:t>
            </a:r>
            <a:r>
              <a:rPr lang="ko-KR" altLang="en-US" sz="2400" dirty="0">
                <a:ea typeface="a아시아헤드2" panose="02020600000000000000"/>
              </a:rPr>
              <a:t>토픽 모델링 활용</a:t>
            </a:r>
            <a:endParaRPr lang="en-US" altLang="ko-KR" sz="2400" dirty="0">
              <a:ea typeface="a아시아헤드2" panose="02020600000000000000"/>
            </a:endParaRPr>
          </a:p>
          <a:p>
            <a:endParaRPr lang="ko-KR" altLang="en-US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000" b="1" dirty="0">
                <a:ea typeface="a아시아헤드2" panose="02020600000000000000"/>
              </a:rPr>
              <a:t>4. </a:t>
            </a:r>
            <a:r>
              <a:rPr lang="ko-KR" altLang="en-US" sz="2000" b="1" dirty="0">
                <a:ea typeface="a아시아헤드2" panose="02020600000000000000"/>
              </a:rPr>
              <a:t>텍스트 군집화 </a:t>
            </a:r>
            <a:r>
              <a:rPr lang="en-US" altLang="ko-KR" sz="2000" b="1" dirty="0">
                <a:ea typeface="a아시아헤드2" panose="02020600000000000000"/>
              </a:rPr>
              <a:t>&amp;</a:t>
            </a:r>
            <a:r>
              <a:rPr lang="ko-KR" altLang="en-US" sz="2000" b="1" dirty="0">
                <a:ea typeface="a아시아헤드2" panose="02020600000000000000"/>
              </a:rPr>
              <a:t>유사도 분석</a:t>
            </a: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비슷한 문서 묶기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비지도학습</a:t>
            </a:r>
            <a:r>
              <a:rPr lang="en-US" altLang="ko-KR" sz="2400" dirty="0">
                <a:ea typeface="a아시아헤드2" panose="02020600000000000000"/>
              </a:rPr>
              <a:t>)</a:t>
            </a:r>
          </a:p>
          <a:p>
            <a:r>
              <a:rPr lang="ko-KR" altLang="en-US" sz="2400" dirty="0">
                <a:ea typeface="a아시아헤드2" panose="02020600000000000000"/>
              </a:rPr>
              <a:t>예</a:t>
            </a:r>
            <a:r>
              <a:rPr lang="en-US" altLang="ko-KR" sz="2400" dirty="0">
                <a:ea typeface="a아시아헤드2" panose="02020600000000000000"/>
              </a:rPr>
              <a:t>) </a:t>
            </a:r>
            <a:r>
              <a:rPr lang="ko-KR" altLang="en-US" sz="2400" dirty="0">
                <a:ea typeface="a아시아헤드2" panose="02020600000000000000"/>
              </a:rPr>
              <a:t>문서 추천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탐색에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4F7AA-7789-8DD3-C0AA-96A8B86F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859B2DF0-0A52-34DD-372F-D9457B2F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0049E-9772-4593-C55A-875ABA03633B}"/>
              </a:ext>
            </a:extLst>
          </p:cNvPr>
          <p:cNvSpPr txBox="1"/>
          <p:nvPr/>
        </p:nvSpPr>
        <p:spPr>
          <a:xfrm>
            <a:off x="77213" y="4625111"/>
            <a:ext cx="92992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8.1 </a:t>
            </a:r>
            <a:r>
              <a:rPr lang="ko-KR" altLang="en-US" sz="66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분석 이해</a:t>
            </a:r>
          </a:p>
        </p:txBody>
      </p:sp>
    </p:spTree>
    <p:extLst>
      <p:ext uri="{BB962C8B-B14F-4D97-AF65-F5344CB8AC3E}">
        <p14:creationId xmlns:p14="http://schemas.microsoft.com/office/powerpoint/2010/main" val="1448263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1763-7541-2C11-0CA2-7448D4DD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374C131B-1234-AEB5-3738-7A0194459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C3DEFE-EAEC-B9E1-0D4D-F4A631D59C30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분석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60B20-6E99-6A10-F052-67693A909E2C}"/>
              </a:ext>
            </a:extLst>
          </p:cNvPr>
          <p:cNvSpPr txBox="1"/>
          <p:nvPr/>
        </p:nvSpPr>
        <p:spPr>
          <a:xfrm>
            <a:off x="464997" y="1711111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#1-1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분석 주요 </a:t>
            </a:r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Task</a:t>
            </a:r>
            <a:endParaRPr lang="ko-KR" altLang="en-US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2C940-3237-4C03-43A3-4AC97030FEAE}"/>
              </a:ext>
            </a:extLst>
          </p:cNvPr>
          <p:cNvSpPr txBox="1"/>
          <p:nvPr/>
        </p:nvSpPr>
        <p:spPr>
          <a:xfrm>
            <a:off x="9602000" y="1773336"/>
            <a:ext cx="703897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#1-2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분석 프로세스</a:t>
            </a:r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1. </a:t>
            </a:r>
            <a:r>
              <a:rPr lang="ko-KR" altLang="en-US" sz="2600" b="1" dirty="0"/>
              <a:t>텍스트 사전 처리</a:t>
            </a:r>
            <a:endParaRPr lang="ko-KR" altLang="en-US" sz="2600" dirty="0"/>
          </a:p>
          <a:p>
            <a:r>
              <a:rPr lang="ko-KR" altLang="en-US" sz="2400" dirty="0"/>
              <a:t>클렌징</a:t>
            </a:r>
            <a:r>
              <a:rPr lang="en-US" altLang="ko-KR" sz="2400" dirty="0"/>
              <a:t>, </a:t>
            </a:r>
            <a:r>
              <a:rPr lang="ko-KR" altLang="en-US" sz="2400" dirty="0"/>
              <a:t>소문자 변환</a:t>
            </a:r>
            <a:r>
              <a:rPr lang="en-US" altLang="ko-KR" sz="2400" dirty="0"/>
              <a:t>, </a:t>
            </a:r>
            <a:r>
              <a:rPr lang="ko-KR" altLang="en-US" sz="2400" dirty="0"/>
              <a:t>불필요한 용어 제거</a:t>
            </a:r>
            <a:r>
              <a:rPr lang="en-US" altLang="ko-KR" sz="2400" dirty="0"/>
              <a:t>, </a:t>
            </a:r>
            <a:r>
              <a:rPr lang="ko-KR" altLang="en-US" sz="2400" dirty="0"/>
              <a:t>토큰화</a:t>
            </a:r>
            <a:r>
              <a:rPr lang="en-US" altLang="ko-KR" sz="2400" dirty="0"/>
              <a:t>, </a:t>
            </a:r>
            <a:r>
              <a:rPr lang="ko-KR" altLang="en-US" sz="2400" dirty="0"/>
              <a:t>어간</a:t>
            </a:r>
            <a:r>
              <a:rPr lang="en-US" altLang="ko-KR" sz="2400" dirty="0"/>
              <a:t>/</a:t>
            </a:r>
            <a:r>
              <a:rPr lang="ko-KR" altLang="en-US" sz="2400" dirty="0"/>
              <a:t>표제어 처리</a:t>
            </a:r>
            <a:endParaRPr lang="en-US" altLang="ko-KR" sz="2400" dirty="0"/>
          </a:p>
          <a:p>
            <a:endParaRPr lang="ko-KR" altLang="en-US" sz="2800" dirty="0"/>
          </a:p>
          <a:p>
            <a:r>
              <a:rPr lang="en-US" altLang="ko-KR" sz="2600" b="1" dirty="0"/>
              <a:t>2. </a:t>
            </a:r>
            <a:r>
              <a:rPr lang="ko-KR" altLang="en-US" sz="2600" b="1" dirty="0"/>
              <a:t>피처 벡터화</a:t>
            </a:r>
            <a:endParaRPr lang="ko-KR" altLang="en-US" sz="2600" dirty="0"/>
          </a:p>
          <a:p>
            <a:r>
              <a:rPr lang="en-US" altLang="ko-KR" sz="2400" dirty="0"/>
              <a:t>BOW(</a:t>
            </a:r>
            <a:r>
              <a:rPr lang="ko-KR" altLang="en-US" sz="2400" dirty="0"/>
              <a:t>단어 발생 횟수 기반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TF-IDF(</a:t>
            </a:r>
            <a:r>
              <a:rPr lang="ko-KR" altLang="en-US" sz="2400" dirty="0"/>
              <a:t>중요도 반영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Word2Vec(</a:t>
            </a:r>
            <a:r>
              <a:rPr lang="ko-KR" altLang="en-US" sz="2400" dirty="0"/>
              <a:t>의미적 유사성 벡터</a:t>
            </a:r>
            <a:r>
              <a:rPr lang="en-US" altLang="ko-KR" sz="2400" dirty="0"/>
              <a:t>)</a:t>
            </a:r>
          </a:p>
          <a:p>
            <a:endParaRPr lang="en-US" altLang="ko-KR" sz="2800" dirty="0"/>
          </a:p>
          <a:p>
            <a:r>
              <a:rPr lang="en-US" altLang="ko-KR" sz="2600" b="1" dirty="0"/>
              <a:t>3. </a:t>
            </a:r>
            <a:r>
              <a:rPr lang="ko-KR" altLang="en-US" sz="2600" b="1" dirty="0"/>
              <a:t>모델 학습 </a:t>
            </a:r>
            <a:r>
              <a:rPr lang="en-US" altLang="ko-KR" sz="2600" b="1" dirty="0"/>
              <a:t>&amp; </a:t>
            </a:r>
            <a:r>
              <a:rPr lang="ko-KR" altLang="en-US" sz="2600" b="1" dirty="0"/>
              <a:t>예측</a:t>
            </a:r>
            <a:endParaRPr lang="ko-KR" altLang="en-US" sz="2600" dirty="0"/>
          </a:p>
          <a:p>
            <a:r>
              <a:rPr lang="ko-KR" altLang="en-US" sz="2400" dirty="0"/>
              <a:t>분류</a:t>
            </a:r>
            <a:r>
              <a:rPr lang="en-US" altLang="ko-KR" sz="2400" dirty="0"/>
              <a:t>, </a:t>
            </a:r>
            <a:r>
              <a:rPr lang="ko-KR" altLang="en-US" sz="2400" dirty="0"/>
              <a:t>감성 분석</a:t>
            </a:r>
            <a:r>
              <a:rPr lang="en-US" altLang="ko-KR" sz="2400" dirty="0"/>
              <a:t>, </a:t>
            </a:r>
            <a:r>
              <a:rPr lang="ko-KR" altLang="en-US" sz="2400" dirty="0"/>
              <a:t>주제 모델링 등</a:t>
            </a:r>
          </a:p>
          <a:p>
            <a:r>
              <a:rPr lang="ko-KR" altLang="en-US" sz="2400" dirty="0"/>
              <a:t>➡ 텍스트 → 피처 → </a:t>
            </a:r>
            <a:r>
              <a:rPr lang="en-US" altLang="ko-KR" sz="2400" dirty="0"/>
              <a:t>ML </a:t>
            </a:r>
            <a:r>
              <a:rPr lang="ko-KR" altLang="en-US" sz="2400" dirty="0"/>
              <a:t>모델 → 결과 해석 흐름</a:t>
            </a:r>
          </a:p>
          <a:p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A79E067-E19C-22A9-B5F1-F63E4B63D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801247"/>
              </p:ext>
            </p:extLst>
          </p:nvPr>
        </p:nvGraphicFramePr>
        <p:xfrm>
          <a:off x="464997" y="2510035"/>
          <a:ext cx="8440878" cy="52147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13626">
                  <a:extLst>
                    <a:ext uri="{9D8B030D-6E8A-4147-A177-3AD203B41FA5}">
                      <a16:colId xmlns:a16="http://schemas.microsoft.com/office/drawing/2014/main" val="766219650"/>
                    </a:ext>
                  </a:extLst>
                </a:gridCol>
                <a:gridCol w="2813626">
                  <a:extLst>
                    <a:ext uri="{9D8B030D-6E8A-4147-A177-3AD203B41FA5}">
                      <a16:colId xmlns:a16="http://schemas.microsoft.com/office/drawing/2014/main" val="2248880124"/>
                    </a:ext>
                  </a:extLst>
                </a:gridCol>
                <a:gridCol w="2813626">
                  <a:extLst>
                    <a:ext uri="{9D8B030D-6E8A-4147-A177-3AD203B41FA5}">
                      <a16:colId xmlns:a16="http://schemas.microsoft.com/office/drawing/2014/main" val="14398001"/>
                    </a:ext>
                  </a:extLst>
                </a:gridCol>
              </a:tblGrid>
              <a:tr h="834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Task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대표 기술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020426"/>
                  </a:ext>
                </a:extLst>
              </a:tr>
              <a:tr h="1058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전처리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토크나이징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stopwords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제거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정규화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nltk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spaCy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KoNLPy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938348"/>
                  </a:ext>
                </a:extLst>
              </a:tr>
              <a:tr h="8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벡터화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텍스트 → 숫자 벡터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BOW, TF-IDF, Word2Vec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021563"/>
                  </a:ext>
                </a:extLst>
              </a:tr>
              <a:tr h="8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감성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의견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감정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ML, LSTM,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148734"/>
                  </a:ext>
                </a:extLst>
              </a:tr>
              <a:tr h="8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카테고리 자동 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SVM, Naive Bayes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632282"/>
                  </a:ext>
                </a:extLst>
              </a:tr>
              <a:tr h="8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군집화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유사 문서 묶음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K-means, LDA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67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32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2824-0B3B-CBD8-FA8A-B6D5C6AB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D726FD5A-24AC-76BB-A4AA-5B56025A1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87DE6-6D6E-DD94-1361-5CBC906203B4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#2 </a:t>
            </a:r>
            <a:r>
              <a:rPr lang="ko-KR" altLang="en-US" sz="6000" b="1" dirty="0"/>
              <a:t>파이썬 텍스트 분석 패키지</a:t>
            </a:r>
            <a:endParaRPr lang="ko-KR" altLang="en-US" sz="6000" b="1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99F4E-4782-21E0-A9DD-F55990A61D39}"/>
              </a:ext>
            </a:extLst>
          </p:cNvPr>
          <p:cNvSpPr txBox="1"/>
          <p:nvPr/>
        </p:nvSpPr>
        <p:spPr>
          <a:xfrm>
            <a:off x="463387" y="1566148"/>
            <a:ext cx="78535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#2-1 NLTK</a:t>
            </a:r>
          </a:p>
          <a:p>
            <a:pPr marL="457200" indent="-457200">
              <a:buFontTx/>
              <a:buChar char="-"/>
            </a:pPr>
            <a:r>
              <a:rPr lang="ko-KR" altLang="en-US" sz="2800" dirty="0" err="1"/>
              <a:t>파이썬의</a:t>
            </a:r>
            <a:r>
              <a:rPr lang="ko-KR" altLang="en-US" sz="2800" dirty="0"/>
              <a:t> 가장 오래된 </a:t>
            </a:r>
            <a:r>
              <a:rPr lang="en-US" altLang="ko-KR" sz="2800" dirty="0"/>
              <a:t>NLP </a:t>
            </a:r>
            <a:r>
              <a:rPr lang="ko-KR" altLang="en-US" sz="2800" dirty="0"/>
              <a:t>패키지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/>
              <a:t>자연어 처리 </a:t>
            </a:r>
            <a:r>
              <a:rPr lang="en-US" altLang="ko-KR" sz="2800" dirty="0"/>
              <a:t>&amp; </a:t>
            </a:r>
            <a:r>
              <a:rPr lang="ko-KR" altLang="en-US" sz="2800" dirty="0"/>
              <a:t>문서 분석용 파이썬 라이브러리</a:t>
            </a:r>
            <a:br>
              <a:rPr lang="ko-KR" altLang="en-US" sz="2800" dirty="0"/>
            </a:br>
            <a:r>
              <a:rPr lang="ko-KR" altLang="en-US" sz="2800" dirty="0"/>
              <a:t>→ 다만 성능이 느리고 대규모 처리엔 부적합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>
                <a:ea typeface="a아시아헤드1" panose="02020600000000000000" pitchFamily="18" charset="-127"/>
              </a:rPr>
              <a:t>* </a:t>
            </a:r>
            <a:r>
              <a:rPr lang="ko-KR" altLang="en-US" sz="2800" dirty="0">
                <a:ea typeface="a아시아헤드1" panose="02020600000000000000" pitchFamily="18" charset="-127"/>
              </a:rPr>
              <a:t>주요 기능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>
                <a:ea typeface="a아시아헤드1" panose="02020600000000000000" pitchFamily="18" charset="-127"/>
              </a:rPr>
              <a:t>토큰화</a:t>
            </a:r>
            <a:endParaRPr lang="en-US" altLang="ko-KR" sz="26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>
                <a:ea typeface="a아시아헤드1" panose="02020600000000000000" pitchFamily="18" charset="-127"/>
              </a:rPr>
              <a:t>품사 </a:t>
            </a:r>
            <a:r>
              <a:rPr lang="ko-KR" altLang="en-US" sz="2600" dirty="0" err="1">
                <a:ea typeface="a아시아헤드1" panose="02020600000000000000" pitchFamily="18" charset="-127"/>
              </a:rPr>
              <a:t>태깅</a:t>
            </a:r>
            <a:endParaRPr lang="en-US" altLang="ko-KR" sz="26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>
                <a:ea typeface="a아시아헤드1" panose="02020600000000000000" pitchFamily="18" charset="-127"/>
              </a:rPr>
              <a:t>형태소 분석</a:t>
            </a:r>
            <a:endParaRPr lang="en-US" altLang="ko-KR" sz="26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>
                <a:ea typeface="a아시아헤드1" panose="02020600000000000000" pitchFamily="18" charset="-127"/>
              </a:rPr>
              <a:t>말뭉치 제공</a:t>
            </a:r>
            <a:endParaRPr lang="en-US" altLang="ko-KR" sz="2600" dirty="0">
              <a:ea typeface="a아시아헤드1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04350-0AF2-286F-83D9-E474A4FEE802}"/>
              </a:ext>
            </a:extLst>
          </p:cNvPr>
          <p:cNvSpPr txBox="1"/>
          <p:nvPr/>
        </p:nvSpPr>
        <p:spPr>
          <a:xfrm>
            <a:off x="463387" y="6297649"/>
            <a:ext cx="76614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#2-2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en-US" altLang="ko-KR" sz="2800" b="1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Gensim</a:t>
            </a:r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8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파이썬에서</a:t>
            </a:r>
            <a:r>
              <a:rPr lang="ko-KR" altLang="en-US" sz="28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제공하는 </a:t>
            </a:r>
            <a:r>
              <a:rPr lang="en-US" altLang="ko-KR" sz="2800" dirty="0"/>
              <a:t>Word2Vec </a:t>
            </a:r>
            <a:r>
              <a:rPr lang="ko-KR" altLang="en-US" sz="2800" dirty="0"/>
              <a:t>라이브러리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/>
              <a:t>대규모 텍스트 처리에 효율적</a:t>
            </a:r>
            <a:r>
              <a:rPr lang="en-US" altLang="ko-KR" sz="2800" dirty="0"/>
              <a:t>(</a:t>
            </a:r>
            <a:r>
              <a:rPr lang="ko-KR" altLang="en-US" sz="2800" dirty="0"/>
              <a:t>스트리밍 처리</a:t>
            </a:r>
            <a:r>
              <a:rPr lang="en-US" altLang="ko-KR" sz="2800" dirty="0"/>
              <a:t>)</a:t>
            </a:r>
          </a:p>
          <a:p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ea typeface="a아시아헤드1" panose="02020600000000000000" pitchFamily="18" charset="-127"/>
              </a:rPr>
              <a:t>* </a:t>
            </a:r>
            <a:r>
              <a:rPr lang="ko-KR" altLang="en-US" sz="2800" dirty="0">
                <a:ea typeface="a아시아헤드1" panose="02020600000000000000" pitchFamily="18" charset="-127"/>
              </a:rPr>
              <a:t>주요 기능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 err="1"/>
              <a:t>임베딩</a:t>
            </a:r>
            <a:r>
              <a:rPr lang="ko-KR" altLang="en-US" sz="2600" dirty="0"/>
              <a:t> </a:t>
            </a:r>
            <a:r>
              <a:rPr lang="en-US" altLang="ko-KR" sz="2600" dirty="0"/>
              <a:t>: Word2Vec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/>
              <a:t>토픽 모델링</a:t>
            </a:r>
            <a:endParaRPr lang="en-US" altLang="ko-KR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600" dirty="0"/>
              <a:t>LDA</a:t>
            </a:r>
            <a:endParaRPr lang="ko-KR" altLang="en-US" sz="26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4519F-BCEB-5423-E5C0-9EFBF469308A}"/>
              </a:ext>
            </a:extLst>
          </p:cNvPr>
          <p:cNvSpPr txBox="1"/>
          <p:nvPr/>
        </p:nvSpPr>
        <p:spPr>
          <a:xfrm>
            <a:off x="9046339" y="1566148"/>
            <a:ext cx="86225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#2-3 </a:t>
            </a:r>
            <a:r>
              <a:rPr lang="en-US" altLang="ko-KR" sz="2800" b="1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KoNLPy</a:t>
            </a:r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한국어 처리를 위한 파이썬 라이브러리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7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파이썬에서</a:t>
            </a:r>
            <a:r>
              <a:rPr lang="ko-KR" altLang="en-US" sz="27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활용 가능한 오픈 소스 형태소 분석기</a:t>
            </a:r>
            <a:endParaRPr lang="en-US" altLang="ko-KR" sz="27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5ADC2-D6A7-2A9D-2B0B-A818DB782FBC}"/>
              </a:ext>
            </a:extLst>
          </p:cNvPr>
          <p:cNvSpPr txBox="1"/>
          <p:nvPr/>
        </p:nvSpPr>
        <p:spPr>
          <a:xfrm>
            <a:off x="9507685" y="2951143"/>
            <a:ext cx="75230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600" dirty="0">
                <a:ea typeface="a아시아헤드2" panose="02020600000000000000"/>
              </a:rPr>
              <a:t>→ 기존에 공개된 여러 분석기를 한 번에 설치 </a:t>
            </a:r>
            <a:endParaRPr lang="en-US" altLang="ko-KR" sz="2600" dirty="0">
              <a:ea typeface="a아시아헤드2" panose="02020600000000000000"/>
            </a:endParaRPr>
          </a:p>
          <a:p>
            <a:r>
              <a:rPr lang="en-US" altLang="ko-KR" sz="2600" dirty="0">
                <a:ea typeface="a아시아헤드2" panose="02020600000000000000"/>
              </a:rPr>
              <a:t>     + </a:t>
            </a:r>
            <a:r>
              <a:rPr lang="ko-KR" altLang="en-US" sz="2600" dirty="0">
                <a:ea typeface="a아시아헤드2" panose="02020600000000000000"/>
              </a:rPr>
              <a:t>동일한 방법으로 사용 가능하도록 </a:t>
            </a:r>
            <a:r>
              <a:rPr lang="ko-KR" altLang="en-US" sz="2600" dirty="0" err="1">
                <a:ea typeface="a아시아헤드2" panose="02020600000000000000"/>
              </a:rPr>
              <a:t>해줌</a:t>
            </a:r>
            <a:endParaRPr lang="ko-KR" altLang="en-US" sz="2600" dirty="0">
              <a:ea typeface="a아시아헤드2" panose="0202060000000000000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A7D99-52CB-EBDB-6233-5ACD4F65CF96}"/>
              </a:ext>
            </a:extLst>
          </p:cNvPr>
          <p:cNvSpPr txBox="1"/>
          <p:nvPr/>
        </p:nvSpPr>
        <p:spPr>
          <a:xfrm>
            <a:off x="9144000" y="3935639"/>
            <a:ext cx="52474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ea typeface="a아시아헤드1" panose="02020600000000000000" pitchFamily="18" charset="-127"/>
              </a:rPr>
              <a:t>* </a:t>
            </a:r>
            <a:r>
              <a:rPr lang="ko-KR" altLang="en-US" sz="2800" dirty="0">
                <a:ea typeface="a아시아헤드1" panose="02020600000000000000" pitchFamily="18" charset="-127"/>
              </a:rPr>
              <a:t>주요 기능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/>
              <a:t>형태소 분석 </a:t>
            </a:r>
            <a:r>
              <a:rPr lang="en-US" altLang="ko-KR" sz="2600" dirty="0"/>
              <a:t>: morphs()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품사 </a:t>
            </a:r>
            <a:r>
              <a:rPr lang="ko-KR" altLang="en-US" sz="26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태깅</a:t>
            </a:r>
            <a:r>
              <a:rPr lang="ko-KR" altLang="en-US" sz="2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en-US" altLang="ko-KR" sz="2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: pos()</a:t>
            </a:r>
            <a:endParaRPr lang="ko-KR" altLang="en-US" sz="26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6F7CF-FE85-1E26-884E-B7F675D9EF52}"/>
              </a:ext>
            </a:extLst>
          </p:cNvPr>
          <p:cNvSpPr txBox="1"/>
          <p:nvPr/>
        </p:nvSpPr>
        <p:spPr>
          <a:xfrm>
            <a:off x="9046339" y="5665606"/>
            <a:ext cx="76614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#2-4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en-US" altLang="ko-KR" sz="2800" b="1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SpaCy</a:t>
            </a:r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8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최신</a:t>
            </a:r>
            <a:r>
              <a:rPr lang="en-US" altLang="ko-KR" sz="2800" dirty="0"/>
              <a:t>·</a:t>
            </a:r>
            <a:r>
              <a:rPr lang="ko-KR" altLang="en-US" sz="2800" dirty="0"/>
              <a:t>고성능 </a:t>
            </a:r>
            <a:r>
              <a:rPr lang="en-US" altLang="ko-KR" sz="2800" dirty="0"/>
              <a:t>NLP </a:t>
            </a:r>
            <a:r>
              <a:rPr lang="ko-KR" altLang="en-US" sz="2800" dirty="0"/>
              <a:t>패키지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/>
              <a:t>속도 빠르고 산업환경 적용에 적합</a:t>
            </a: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/>
              <a:t>품사 </a:t>
            </a:r>
            <a:r>
              <a:rPr lang="ko-KR" altLang="en-US" sz="2800" dirty="0" err="1"/>
              <a:t>태깅</a:t>
            </a:r>
            <a:r>
              <a:rPr lang="en-US" altLang="ko-KR" sz="2800" dirty="0"/>
              <a:t>, </a:t>
            </a:r>
            <a:r>
              <a:rPr lang="ko-KR" altLang="en-US" sz="2800" dirty="0"/>
              <a:t>의존 구문 분석</a:t>
            </a:r>
            <a:r>
              <a:rPr lang="en-US" altLang="ko-KR" sz="2800" dirty="0"/>
              <a:t>, NER </a:t>
            </a:r>
            <a:r>
              <a:rPr lang="ko-KR" altLang="en-US" sz="2800" dirty="0"/>
              <a:t>강점</a:t>
            </a:r>
            <a:endParaRPr lang="en-US" altLang="ko-KR" sz="2800" dirty="0"/>
          </a:p>
          <a:p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ea typeface="a아시아헤드1" panose="02020600000000000000" pitchFamily="18" charset="-127"/>
              </a:rPr>
              <a:t>* </a:t>
            </a:r>
            <a:r>
              <a:rPr lang="ko-KR" altLang="en-US" sz="2800" dirty="0">
                <a:ea typeface="a아시아헤드1" panose="02020600000000000000" pitchFamily="18" charset="-127"/>
              </a:rPr>
              <a:t>주요 기능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/>
              <a:t>고성능 토큰화</a:t>
            </a:r>
            <a:endParaRPr lang="en-US" altLang="ko-KR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600" dirty="0"/>
              <a:t>NER(Named Entity Recognition)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/>
              <a:t>의존 구문 분석</a:t>
            </a:r>
            <a:endParaRPr lang="en-US" altLang="ko-KR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600" dirty="0"/>
              <a:t>벡터 기반 의미 처리</a:t>
            </a:r>
            <a:endParaRPr lang="ko-KR" altLang="en-US" sz="26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235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B5F6C-2A87-45A7-BF19-CD237E48C4C4}"/>
              </a:ext>
            </a:extLst>
          </p:cNvPr>
          <p:cNvSpPr txBox="1"/>
          <p:nvPr/>
        </p:nvSpPr>
        <p:spPr>
          <a:xfrm>
            <a:off x="1210609" y="4737783"/>
            <a:ext cx="11838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8.2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정규화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97DD6-6782-4D6B-B88A-0567D2DE2EF8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정규화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15C61-21E6-479A-AEDF-0797C60D5A55}"/>
              </a:ext>
            </a:extLst>
          </p:cNvPr>
          <p:cNvSpPr txBox="1"/>
          <p:nvPr/>
        </p:nvSpPr>
        <p:spPr>
          <a:xfrm>
            <a:off x="1017350" y="3613334"/>
            <a:ext cx="76614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정규화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5D0A7-CF8D-42D7-9BE5-6C5EA10DCAD7}"/>
              </a:ext>
            </a:extLst>
          </p:cNvPr>
          <p:cNvSpPr txBox="1"/>
          <p:nvPr/>
        </p:nvSpPr>
        <p:spPr>
          <a:xfrm>
            <a:off x="1017349" y="4813300"/>
            <a:ext cx="76614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텍스트를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머신러닝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알고리즘이나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NLP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애플리케이션에 입력 데이터로 사용하기 위해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다양한 텍스트 데이터의 사전 작업을 수행하는 것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127EC1-3D49-D6BF-E8C3-102A860FB96B}"/>
              </a:ext>
            </a:extLst>
          </p:cNvPr>
          <p:cNvSpPr/>
          <p:nvPr/>
        </p:nvSpPr>
        <p:spPr>
          <a:xfrm>
            <a:off x="10540999" y="4043966"/>
            <a:ext cx="5448301" cy="2661634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클렌징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(Cleansing)</a:t>
            </a:r>
          </a:p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토큰화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(Tokenization)</a:t>
            </a:r>
          </a:p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필터링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/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스톱 워드 제거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/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철자 수정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Stemming</a:t>
            </a: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Lemmatization</a:t>
            </a: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DACB2781-D1E8-264F-382F-78E9AD983E31}"/>
              </a:ext>
            </a:extLst>
          </p:cNvPr>
          <p:cNvSpPr/>
          <p:nvPr/>
        </p:nvSpPr>
        <p:spPr>
          <a:xfrm rot="5400000">
            <a:off x="9344373" y="5294575"/>
            <a:ext cx="529702" cy="387350"/>
          </a:xfrm>
          <a:prstGeom prst="triangle">
            <a:avLst/>
          </a:prstGeom>
          <a:solidFill>
            <a:srgbClr val="4A6402"/>
          </a:solidFill>
          <a:ln>
            <a:solidFill>
              <a:srgbClr val="4A64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49BEE-737C-6A5D-E63F-47CFA09B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C69B3E39-D4E1-9AB7-805C-626F08D36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D04050-7D6F-E711-F305-00BE0C37561C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클렌징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&amp;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토큰화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FC3EC-20FC-0BF7-E38E-BE78F1906254}"/>
              </a:ext>
            </a:extLst>
          </p:cNvPr>
          <p:cNvSpPr txBox="1"/>
          <p:nvPr/>
        </p:nvSpPr>
        <p:spPr>
          <a:xfrm>
            <a:off x="1017350" y="231669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클렌징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0EFB6-27F3-EBE7-229C-B9FB24C25701}"/>
              </a:ext>
            </a:extLst>
          </p:cNvPr>
          <p:cNvSpPr txBox="1"/>
          <p:nvPr/>
        </p:nvSpPr>
        <p:spPr>
          <a:xfrm>
            <a:off x="1017350" y="3475244"/>
            <a:ext cx="13079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텍스트에서 분석에 방해되는 불필요한 문자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,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기호 등을 사전에 제거하는 작업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ex) HTML, XML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태그나 특정 기호 등을 사전에 제거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A71B2-5FD9-1E72-7019-3B2DA4205C53}"/>
              </a:ext>
            </a:extLst>
          </p:cNvPr>
          <p:cNvSpPr txBox="1"/>
          <p:nvPr/>
        </p:nvSpPr>
        <p:spPr>
          <a:xfrm>
            <a:off x="1017350" y="6367424"/>
            <a:ext cx="1462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문서에서 문장을 분리하는 문장 토큰화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,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문장에서 단어를 토큰으로 분리하는 단어 토큰화로 나눌 수 있다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.</a:t>
            </a: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73218-ABD3-A67A-554B-4F41694988E8}"/>
              </a:ext>
            </a:extLst>
          </p:cNvPr>
          <p:cNvSpPr txBox="1"/>
          <p:nvPr/>
        </p:nvSpPr>
        <p:spPr>
          <a:xfrm>
            <a:off x="1017350" y="5227321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 토큰화</a:t>
            </a:r>
          </a:p>
        </p:txBody>
      </p:sp>
    </p:spTree>
    <p:extLst>
      <p:ext uri="{BB962C8B-B14F-4D97-AF65-F5344CB8AC3E}">
        <p14:creationId xmlns:p14="http://schemas.microsoft.com/office/powerpoint/2010/main" val="171196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1471-9589-7411-492C-31D90AF2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E1E88EBA-3B51-A9FA-03A2-75A520A6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F129CC-37CB-B466-4D77-195BD8070BA3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토큰화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27FD7-E5BF-4D7C-9693-3748BAD1F482}"/>
              </a:ext>
            </a:extLst>
          </p:cNvPr>
          <p:cNvSpPr txBox="1"/>
          <p:nvPr/>
        </p:nvSpPr>
        <p:spPr>
          <a:xfrm>
            <a:off x="1017350" y="231669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문장 토큰화</a:t>
            </a:r>
            <a:r>
              <a:rPr lang="en-US" altLang="ko-KR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</a:t>
            </a:r>
            <a:r>
              <a:rPr lang="en-US" altLang="ko-KR" sz="3600" b="1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sent_tokenize</a:t>
            </a:r>
            <a:r>
              <a:rPr lang="en-US" altLang="ko-KR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)</a:t>
            </a:r>
            <a:endParaRPr lang="ko-KR" altLang="en-US" sz="36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BCC76-3F51-73C7-1A38-B617ACE89AB3}"/>
              </a:ext>
            </a:extLst>
          </p:cNvPr>
          <p:cNvSpPr txBox="1"/>
          <p:nvPr/>
        </p:nvSpPr>
        <p:spPr>
          <a:xfrm>
            <a:off x="1017350" y="3361592"/>
            <a:ext cx="13079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문장의 마침표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(.),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개행문자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(\n)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등 문장의 마지막을 뜻하는 기호에 따라 분리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정규 표현식에 따른 문장 토큰화도 가능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011BB8-74D9-D216-5E45-83D8FE51D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50" y="4742553"/>
            <a:ext cx="9502382" cy="339142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DE0AF23-68CD-6BE3-FF94-BDAA587CA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50" y="8588587"/>
            <a:ext cx="16017533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0447-2485-8534-4389-0EE718C0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78B1C3F7-92D8-67A0-8985-E9EC94EE1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B92DF5-D826-7E5C-680D-C07A7CEB8217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토큰화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2A078-AD6D-8893-0743-6C84A9419C4A}"/>
              </a:ext>
            </a:extLst>
          </p:cNvPr>
          <p:cNvSpPr txBox="1"/>
          <p:nvPr/>
        </p:nvSpPr>
        <p:spPr>
          <a:xfrm>
            <a:off x="1017350" y="231669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단어 토큰화</a:t>
            </a:r>
            <a:r>
              <a:rPr lang="en-US" altLang="ko-KR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</a:t>
            </a:r>
            <a:r>
              <a:rPr lang="en-US" altLang="ko-KR" sz="3600" b="1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word_tokenize</a:t>
            </a:r>
            <a:r>
              <a:rPr lang="en-US" altLang="ko-KR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)</a:t>
            </a:r>
            <a:endParaRPr lang="ko-KR" altLang="en-US" sz="36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D637B-B5D1-6FFB-02D0-CB0E59FEB302}"/>
              </a:ext>
            </a:extLst>
          </p:cNvPr>
          <p:cNvSpPr txBox="1"/>
          <p:nvPr/>
        </p:nvSpPr>
        <p:spPr>
          <a:xfrm>
            <a:off x="1017350" y="3475244"/>
            <a:ext cx="130796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문장을 단어로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토큰화하는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것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기본적으로 공백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,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콤마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(,),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마침표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(.),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개행문자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(\n)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등으로 단어 분리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정규 표현식을 이용해 다양한 유형으로 토큰화 수행 가능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F608B4-9662-1AF7-4C54-3B5EEADCD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50" y="5459997"/>
            <a:ext cx="11833990" cy="23373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2B9169-6C8E-B029-FB4E-51F17B624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50" y="8386447"/>
            <a:ext cx="15462838" cy="7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9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EAE8-B4E2-DDD9-4D88-7390890F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C97B8D7A-BCE6-FF2D-C4BE-FC4995C0F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774BEE-5031-F70B-3CED-58E890945AF9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토큰화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DA98B-893B-F42B-9F02-8D1450369DA3}"/>
              </a:ext>
            </a:extLst>
          </p:cNvPr>
          <p:cNvSpPr txBox="1"/>
          <p:nvPr/>
        </p:nvSpPr>
        <p:spPr>
          <a:xfrm>
            <a:off x="1017350" y="231669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단어 토큰화와 문서 토큰화 조합</a:t>
            </a: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F571A5-5E8F-2842-9F88-46C29F3C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592" y="3327073"/>
            <a:ext cx="8419392" cy="42999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EDE429-1F6D-8D94-231A-909322846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592" y="8004541"/>
            <a:ext cx="12171720" cy="5170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7B674B1-6F18-FC05-BD4D-51D69F420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592" y="9180630"/>
            <a:ext cx="11524128" cy="44728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DC667DF-9E41-BDEE-4266-45E4AA7022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592" y="8627445"/>
            <a:ext cx="8456450" cy="44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17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D7F6-334A-CEEC-D51F-FD2B3AFE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6D57696E-F78B-9920-E2D5-2795F2848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DCFBD4-2AF7-BBEE-8653-84C0506ECFDA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텍스트 토큰화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52374-ABF0-8961-92F7-748BAFB336A0}"/>
              </a:ext>
            </a:extLst>
          </p:cNvPr>
          <p:cNvSpPr txBox="1"/>
          <p:nvPr/>
        </p:nvSpPr>
        <p:spPr>
          <a:xfrm>
            <a:off x="1017350" y="231669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단어 토큰화와 문서 토큰화 조합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245B1-4CCA-F883-9821-0DD194B43DEA}"/>
              </a:ext>
            </a:extLst>
          </p:cNvPr>
          <p:cNvSpPr txBox="1"/>
          <p:nvPr/>
        </p:nvSpPr>
        <p:spPr>
          <a:xfrm>
            <a:off x="1017350" y="3475244"/>
            <a:ext cx="13079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문장을 단어별로 하나씩 토큰화 할 경우 문맥적 의미가 무시될 수 있음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A7B0F-7CB4-A7AE-1AAD-6F54BCC6F22A}"/>
              </a:ext>
            </a:extLst>
          </p:cNvPr>
          <p:cNvSpPr txBox="1"/>
          <p:nvPr/>
        </p:nvSpPr>
        <p:spPr>
          <a:xfrm>
            <a:off x="2022363" y="4711096"/>
            <a:ext cx="13079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n_gram</a:t>
            </a:r>
            <a:endParaRPr lang="en-US" altLang="ko-KR" sz="2800" b="1" dirty="0">
              <a:solidFill>
                <a:schemeClr val="bg1"/>
              </a:solidFill>
              <a:highlight>
                <a:srgbClr val="4A6402"/>
              </a:highlight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5A7D5-76A7-8463-9FB2-26AD53D25D3A}"/>
              </a:ext>
            </a:extLst>
          </p:cNvPr>
          <p:cNvSpPr txBox="1"/>
          <p:nvPr/>
        </p:nvSpPr>
        <p:spPr>
          <a:xfrm>
            <a:off x="2022362" y="5414791"/>
            <a:ext cx="13079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연속된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개의 단어를 하나의 토큰화 단위로 분리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개 단어 크기 윈도우를 만들어 문장의 처음부터 오른쪽으로 움직이면서 토큰화 수행 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8BF1D-F609-2E65-A596-50E8BFDE4B7E}"/>
              </a:ext>
            </a:extLst>
          </p:cNvPr>
          <p:cNvSpPr txBox="1"/>
          <p:nvPr/>
        </p:nvSpPr>
        <p:spPr>
          <a:xfrm>
            <a:off x="2604174" y="6644752"/>
            <a:ext cx="13079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ex)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2-gram(bigram)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1FD256-2488-6548-0AB5-424365B21576}"/>
              </a:ext>
            </a:extLst>
          </p:cNvPr>
          <p:cNvSpPr txBox="1"/>
          <p:nvPr/>
        </p:nvSpPr>
        <p:spPr>
          <a:xfrm>
            <a:off x="2604173" y="7443826"/>
            <a:ext cx="13079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연속적으로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2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개의 단어들을 순차적으로 이동하면서 단어들을 토큰화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- “Agent Smith knocks the door”</a:t>
            </a: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-  (Agent, Smith), (Smith, knocks), (knocks, the), (the, door)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5DA22E4-2CF4-C9D1-C353-0C53E3968233}"/>
              </a:ext>
            </a:extLst>
          </p:cNvPr>
          <p:cNvSpPr/>
          <p:nvPr/>
        </p:nvSpPr>
        <p:spPr>
          <a:xfrm>
            <a:off x="1133403" y="4742999"/>
            <a:ext cx="695398" cy="49131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825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3555-54E0-B3FA-E032-7D70C747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AF36BCD6-D351-002D-60C2-E365552B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3F7598-000B-8EAE-4FAD-1F7DE66A8B3D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#2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스톱 워드 제거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D527E-CB13-228C-386B-F0F1E9DB857F}"/>
              </a:ext>
            </a:extLst>
          </p:cNvPr>
          <p:cNvSpPr txBox="1"/>
          <p:nvPr/>
        </p:nvSpPr>
        <p:spPr>
          <a:xfrm>
            <a:off x="1017350" y="224137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스톱 워드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B3345-0533-C77E-6F4E-204C931108B5}"/>
              </a:ext>
            </a:extLst>
          </p:cNvPr>
          <p:cNvSpPr txBox="1"/>
          <p:nvPr/>
        </p:nvSpPr>
        <p:spPr>
          <a:xfrm>
            <a:off x="1017350" y="3163922"/>
            <a:ext cx="135315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분석에 큰 의미가 없는 단어를 지칭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     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ex) 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영어에서 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is, the, a, will 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등 문맥적으로 큰 의미가 없는 단어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사전에 제거하지 않으면 빈번함으로 인해 오히려 중요한 단어로 인지되므로 제거해야 하는 것이 중요한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전처리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작업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3153F-D724-1269-25AC-2910479678F9}"/>
              </a:ext>
            </a:extLst>
          </p:cNvPr>
          <p:cNvSpPr txBox="1"/>
          <p:nvPr/>
        </p:nvSpPr>
        <p:spPr>
          <a:xfrm>
            <a:off x="1046381" y="6644830"/>
            <a:ext cx="5062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NLTK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의 </a:t>
            </a:r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stopwords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목록 다운로드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795ED-300C-EBAB-C20F-B0A89707E8A6}"/>
              </a:ext>
            </a:extLst>
          </p:cNvPr>
          <p:cNvSpPr txBox="1"/>
          <p:nvPr/>
        </p:nvSpPr>
        <p:spPr>
          <a:xfrm>
            <a:off x="1017350" y="5794368"/>
            <a:ext cx="766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NLTK</a:t>
            </a:r>
            <a:r>
              <a:rPr lang="ko-KR" altLang="en-US" sz="32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의 </a:t>
            </a:r>
            <a:r>
              <a:rPr lang="ko-KR" altLang="en-US" sz="3200" b="1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스톱워드</a:t>
            </a:r>
            <a:endParaRPr lang="ko-KR" altLang="en-US" sz="32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pic>
        <p:nvPicPr>
          <p:cNvPr id="10" name="그림 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A8324C-B872-94D3-E627-6181C450D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1" y="7277206"/>
            <a:ext cx="7048053" cy="17152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B581B5-ADCC-7B93-27C5-06E7864B2EA1}"/>
              </a:ext>
            </a:extLst>
          </p:cNvPr>
          <p:cNvSpPr txBox="1"/>
          <p:nvPr/>
        </p:nvSpPr>
        <p:spPr>
          <a:xfrm>
            <a:off x="8564578" y="6644829"/>
            <a:ext cx="5062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Stopwords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수 및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20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개 확인</a:t>
            </a:r>
          </a:p>
        </p:txBody>
      </p:sp>
      <p:pic>
        <p:nvPicPr>
          <p:cNvPr id="13" name="그림 1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6DD2CE-8CC3-70E1-F356-5A60AC7FA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578" y="7277206"/>
            <a:ext cx="7048053" cy="171523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9DA24AF-C271-B0C8-3879-11E868563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578" y="9280233"/>
            <a:ext cx="8263030" cy="60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8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0F7A8-2D64-5155-9B44-B45C042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9BAAB01A-2C94-94E2-A9B8-C7A65E3B6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E16AEB-6FBA-D7D7-F665-65B8EDACA762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#2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 스톱 워드 제거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84515-273A-99F9-8AF8-7F6BF55D4DE8}"/>
              </a:ext>
            </a:extLst>
          </p:cNvPr>
          <p:cNvSpPr txBox="1"/>
          <p:nvPr/>
        </p:nvSpPr>
        <p:spPr>
          <a:xfrm>
            <a:off x="1017350" y="2316690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스톱워드를</a:t>
            </a:r>
            <a:r>
              <a:rPr lang="ko-KR" altLang="en-US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필터링으로 제거</a:t>
            </a:r>
          </a:p>
        </p:txBody>
      </p:sp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0ED7A-D2A2-5DF8-0104-C13F36A20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05" y="3254806"/>
            <a:ext cx="9412242" cy="509893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D36A711-C010-D8CA-5612-C3BC1D27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05" y="8633422"/>
            <a:ext cx="13339448" cy="35666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6EC1897-D826-A133-1354-21F4C6EE5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105" y="9281876"/>
            <a:ext cx="8310404" cy="35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5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6DFA-6C16-17E4-1056-F40679B2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00575EBC-8DF0-9A45-5F4D-B11791BF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B7506D-3033-FE4A-CB5E-2DA4933C7F56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#3 Stemming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과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Lemmatization</a:t>
            </a:r>
            <a:endParaRPr lang="ko-KR" altLang="en-US" sz="6000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FEAFC-C4A4-CBF5-4988-079272F77037}"/>
              </a:ext>
            </a:extLst>
          </p:cNvPr>
          <p:cNvSpPr txBox="1"/>
          <p:nvPr/>
        </p:nvSpPr>
        <p:spPr>
          <a:xfrm>
            <a:off x="1017350" y="2316690"/>
            <a:ext cx="14873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많은 언어에서 문법적인 요소에 따라 단어가 다양하게 변화</a:t>
            </a:r>
            <a:endParaRPr lang="en-US" altLang="ko-KR" sz="36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36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Stemming</a:t>
            </a:r>
            <a:r>
              <a:rPr lang="ko-KR" altLang="en-US" sz="36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과 </a:t>
            </a:r>
            <a:r>
              <a:rPr lang="en-US" altLang="ko-KR" sz="36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Lemmatization</a:t>
            </a:r>
            <a:r>
              <a:rPr lang="ko-KR" altLang="en-US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은 문법적 또는 의미적으로 변화하는 단어의 원형을 찾는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F5AA8-00FF-AA45-7CE3-4041F1EE71EF}"/>
              </a:ext>
            </a:extLst>
          </p:cNvPr>
          <p:cNvSpPr txBox="1"/>
          <p:nvPr/>
        </p:nvSpPr>
        <p:spPr>
          <a:xfrm>
            <a:off x="1017350" y="4658213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Stemming</a:t>
            </a:r>
            <a:endParaRPr lang="ko-KR" altLang="en-US" sz="3600" dirty="0">
              <a:solidFill>
                <a:schemeClr val="bg1"/>
              </a:solidFill>
              <a:highlight>
                <a:srgbClr val="4A6402"/>
              </a:highlight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98D06-476D-AF0C-F5E0-4189C2234275}"/>
              </a:ext>
            </a:extLst>
          </p:cNvPr>
          <p:cNvSpPr txBox="1"/>
          <p:nvPr/>
        </p:nvSpPr>
        <p:spPr>
          <a:xfrm>
            <a:off x="1017350" y="5670291"/>
            <a:ext cx="13079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원형 단어로 변환 시 일반적인 방법을 적용하거나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,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더 단순화된 방법을 적용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일부 철자가 훼손된 어근 단어를 추출하는 경향이 있음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A59E2-EBBC-6710-7AE2-2420678C47A3}"/>
              </a:ext>
            </a:extLst>
          </p:cNvPr>
          <p:cNvSpPr txBox="1"/>
          <p:nvPr/>
        </p:nvSpPr>
        <p:spPr>
          <a:xfrm>
            <a:off x="1017349" y="7103873"/>
            <a:ext cx="766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highlight>
                  <a:srgbClr val="4A6402"/>
                </a:highlight>
                <a:latin typeface="a아시아헤드1" panose="02020600000000000000" pitchFamily="18" charset="-127"/>
                <a:ea typeface="a아시아헤드1" panose="02020600000000000000" pitchFamily="18" charset="-127"/>
              </a:rPr>
              <a:t>Lemmatization</a:t>
            </a:r>
            <a:endParaRPr lang="ko-KR" altLang="en-US" sz="3600" dirty="0">
              <a:solidFill>
                <a:schemeClr val="bg1"/>
              </a:solidFill>
              <a:highlight>
                <a:srgbClr val="4A6402"/>
              </a:highlight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AA110-4CDF-6512-AA75-C583B39E4654}"/>
              </a:ext>
            </a:extLst>
          </p:cNvPr>
          <p:cNvSpPr txBox="1"/>
          <p:nvPr/>
        </p:nvSpPr>
        <p:spPr>
          <a:xfrm>
            <a:off x="1017350" y="8014236"/>
            <a:ext cx="138354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더 정교하며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,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의미론적인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기반에서 단어의 원형을 찾음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품사와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같은 문법적인 요소와 더 의미적인 부분을 감안해 정확한 철자로 된 어근 단어를 </a:t>
            </a:r>
            <a:r>
              <a:rPr lang="ko-KR" altLang="en-US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찾아줌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변환 시간이 더 오래 걸림</a:t>
            </a:r>
          </a:p>
        </p:txBody>
      </p:sp>
    </p:spTree>
    <p:extLst>
      <p:ext uri="{BB962C8B-B14F-4D97-AF65-F5344CB8AC3E}">
        <p14:creationId xmlns:p14="http://schemas.microsoft.com/office/powerpoint/2010/main" val="3498263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520F-A367-2FDB-6692-6275997A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FFC37A16-A729-2E6D-0FCF-35CCF9316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11B39-C015-51D6-1808-F6B67E7147C4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#3 Stemming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과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Lemmatization</a:t>
            </a:r>
            <a:endParaRPr lang="ko-KR" altLang="en-US" sz="6000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3A988C-5718-C9E6-C27A-3384CC767FA9}"/>
              </a:ext>
            </a:extLst>
          </p:cNvPr>
          <p:cNvSpPr txBox="1"/>
          <p:nvPr/>
        </p:nvSpPr>
        <p:spPr>
          <a:xfrm>
            <a:off x="1017350" y="2316690"/>
            <a:ext cx="1487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NLTK</a:t>
            </a:r>
            <a:r>
              <a:rPr lang="ko-KR" altLang="en-US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에서 </a:t>
            </a:r>
            <a:r>
              <a:rPr lang="en-US" altLang="ko-KR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Stemming (</a:t>
            </a:r>
            <a:r>
              <a:rPr lang="en-US" altLang="ko-KR" sz="36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LancasterStemming</a:t>
            </a:r>
            <a:r>
              <a:rPr lang="en-US" altLang="ko-KR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)</a:t>
            </a:r>
            <a:endParaRPr lang="ko-KR" altLang="en-US" sz="36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C5F3E6-3D80-E931-0A9D-051D3EEB4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50" y="3647580"/>
            <a:ext cx="12659836" cy="50639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47826E-9F15-C04E-B29E-BCEC6E773FFD}"/>
              </a:ext>
            </a:extLst>
          </p:cNvPr>
          <p:cNvSpPr txBox="1"/>
          <p:nvPr/>
        </p:nvSpPr>
        <p:spPr>
          <a:xfrm>
            <a:off x="7455912" y="7508645"/>
            <a:ext cx="3625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002060"/>
                </a:solidFill>
                <a:latin typeface="a아시아헤드1" panose="02020600000000000000" pitchFamily="18" charset="-127"/>
                <a:ea typeface="a아시아헤드1" panose="02020600000000000000" pitchFamily="18" charset="-127"/>
              </a:rPr>
              <a:t>amus</a:t>
            </a:r>
            <a:r>
              <a:rPr lang="ko-KR" altLang="en-US" sz="2400" dirty="0">
                <a:solidFill>
                  <a:srgbClr val="002060"/>
                </a:solidFill>
                <a:latin typeface="a아시아헤드1" panose="02020600000000000000" pitchFamily="18" charset="-127"/>
                <a:ea typeface="a아시아헤드1" panose="02020600000000000000" pitchFamily="18" charset="-127"/>
              </a:rPr>
              <a:t>를 원형 단어로 인식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2E0328D-3742-1996-E9F1-D0AAF0F72733}"/>
              </a:ext>
            </a:extLst>
          </p:cNvPr>
          <p:cNvCxnSpPr>
            <a:cxnSpLocks/>
          </p:cNvCxnSpPr>
          <p:nvPr/>
        </p:nvCxnSpPr>
        <p:spPr>
          <a:xfrm>
            <a:off x="3665596" y="7760289"/>
            <a:ext cx="354096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오른쪽 대괄호 16">
            <a:extLst>
              <a:ext uri="{FF2B5EF4-FFF2-40B4-BE49-F238E27FC236}">
                <a16:creationId xmlns:a16="http://schemas.microsoft.com/office/drawing/2014/main" id="{EF28225C-D72E-D9AC-2E7D-9E5F050D4DF2}"/>
              </a:ext>
            </a:extLst>
          </p:cNvPr>
          <p:cNvSpPr/>
          <p:nvPr/>
        </p:nvSpPr>
        <p:spPr>
          <a:xfrm>
            <a:off x="3498063" y="8106031"/>
            <a:ext cx="469557" cy="605481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A99F8AA-7940-EABD-4F17-E94E6CCF3623}"/>
              </a:ext>
            </a:extLst>
          </p:cNvPr>
          <p:cNvCxnSpPr>
            <a:cxnSpLocks/>
          </p:cNvCxnSpPr>
          <p:nvPr/>
        </p:nvCxnSpPr>
        <p:spPr>
          <a:xfrm>
            <a:off x="3967620" y="8408771"/>
            <a:ext cx="711382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6DCD02-346D-6B24-FB7F-F91F419DC635}"/>
              </a:ext>
            </a:extLst>
          </p:cNvPr>
          <p:cNvSpPr txBox="1"/>
          <p:nvPr/>
        </p:nvSpPr>
        <p:spPr>
          <a:xfrm>
            <a:off x="11233843" y="8177938"/>
            <a:ext cx="5830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2060"/>
                </a:solidFill>
                <a:latin typeface="a아시아헤드1" panose="02020600000000000000" pitchFamily="18" charset="-127"/>
                <a:ea typeface="a아시아헤드1" panose="02020600000000000000" pitchFamily="18" charset="-127"/>
              </a:rPr>
              <a:t>원형 단어에서 철자가 다른 어근 단어로 인식</a:t>
            </a:r>
            <a:endParaRPr lang="ko-KR" altLang="en-US" sz="2400" dirty="0">
              <a:solidFill>
                <a:srgbClr val="002060"/>
              </a:solidFill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133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9C82-C401-9202-AB77-72A5507A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83A83246-03F7-7A97-3C1A-7073AFADD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535651-F3CC-4D63-0F71-D7C67116C480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#3 Stemming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과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Lemmatization</a:t>
            </a:r>
            <a:endParaRPr lang="ko-KR" altLang="en-US" sz="6000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D41F9-36FF-B756-98DE-E41FB1F2E16E}"/>
              </a:ext>
            </a:extLst>
          </p:cNvPr>
          <p:cNvSpPr txBox="1"/>
          <p:nvPr/>
        </p:nvSpPr>
        <p:spPr>
          <a:xfrm>
            <a:off x="1017350" y="2167224"/>
            <a:ext cx="1487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NLTK</a:t>
            </a:r>
            <a:r>
              <a:rPr lang="ko-KR" altLang="en-US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에서 </a:t>
            </a:r>
            <a:r>
              <a:rPr lang="en-US" altLang="ko-KR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Lemmatization (</a:t>
            </a:r>
            <a:r>
              <a:rPr lang="en-US" altLang="ko-KR" sz="36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WordNetLemmatizer</a:t>
            </a:r>
            <a:r>
              <a:rPr lang="en-US" altLang="ko-KR" sz="36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)</a:t>
            </a:r>
            <a:endParaRPr lang="ko-KR" altLang="en-US" sz="36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4D7204-DFAD-E421-C018-866370218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50" y="5037589"/>
            <a:ext cx="13680864" cy="45727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BB02C4-199D-6873-7BB9-42871724C593}"/>
              </a:ext>
            </a:extLst>
          </p:cNvPr>
          <p:cNvSpPr txBox="1"/>
          <p:nvPr/>
        </p:nvSpPr>
        <p:spPr>
          <a:xfrm>
            <a:off x="1017350" y="3187787"/>
            <a:ext cx="13079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보다 정확한 원형 단어 추출을 위해 단어의 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‘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품사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＇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를 입력해야 함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	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ex) 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동사 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‘v’,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형용사 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‘a’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Stemming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보다 정확하게 원형 단어를 추출해줌</a:t>
            </a:r>
            <a:endParaRPr lang="en-US" altLang="ko-KR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905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B5F6C-2A87-45A7-BF19-CD237E48C4C4}"/>
              </a:ext>
            </a:extLst>
          </p:cNvPr>
          <p:cNvSpPr txBox="1"/>
          <p:nvPr/>
        </p:nvSpPr>
        <p:spPr>
          <a:xfrm>
            <a:off x="125086" y="4662710"/>
            <a:ext cx="97532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3. Bag of Words-BOW</a:t>
            </a:r>
            <a:endParaRPr lang="ko-KR" altLang="en-US" sz="6600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97DD6-6782-4D6B-B88A-0567D2DE2EF8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#01 BOW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란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?</a:t>
            </a:r>
            <a:endParaRPr lang="ko-KR" altLang="en-US" sz="6000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68FB92-F022-CB46-A79B-2D821782CFBC}"/>
              </a:ext>
            </a:extLst>
          </p:cNvPr>
          <p:cNvSpPr/>
          <p:nvPr/>
        </p:nvSpPr>
        <p:spPr>
          <a:xfrm>
            <a:off x="1510145" y="3657805"/>
            <a:ext cx="11402291" cy="20364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15C61-21E6-479A-AEDF-0797C60D5A55}"/>
              </a:ext>
            </a:extLst>
          </p:cNvPr>
          <p:cNvSpPr txBox="1"/>
          <p:nvPr/>
        </p:nvSpPr>
        <p:spPr>
          <a:xfrm>
            <a:off x="692457" y="1940319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 Bag of Words</a:t>
            </a: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5D0A7-CF8D-42D7-9BE5-6C5EA10DCAD7}"/>
              </a:ext>
            </a:extLst>
          </p:cNvPr>
          <p:cNvSpPr txBox="1"/>
          <p:nvPr/>
        </p:nvSpPr>
        <p:spPr>
          <a:xfrm>
            <a:off x="1950399" y="3774421"/>
            <a:ext cx="13278028" cy="168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1. 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문장에 있는 모든 단어에서 중복을 제거하고 각 단어를 칼럼 형태로 나열</a:t>
            </a:r>
            <a:endParaRPr lang="en-US" altLang="ko-KR" sz="24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2. 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각 단어에 고유의 인덱스를 부여</a:t>
            </a:r>
            <a:endParaRPr lang="en-US" altLang="ko-KR" sz="24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3. 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해당 단어가 문장에서 나타나는 횟수를 각 단어 인덱스에 기재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83C64-2400-433D-96E4-21D520A36DD9}"/>
              </a:ext>
            </a:extLst>
          </p:cNvPr>
          <p:cNvSpPr txBox="1"/>
          <p:nvPr/>
        </p:nvSpPr>
        <p:spPr>
          <a:xfrm>
            <a:off x="692457" y="6215024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장단점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CF29D-B4D1-B897-F730-FC7446078148}"/>
              </a:ext>
            </a:extLst>
          </p:cNvPr>
          <p:cNvSpPr txBox="1"/>
          <p:nvPr/>
        </p:nvSpPr>
        <p:spPr>
          <a:xfrm>
            <a:off x="692457" y="2743350"/>
            <a:ext cx="13494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: 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문맥이나 순서를 무시하고 일괄적으로 단어에 대해 빈도 값을 부여해 피처 값을 추출하는 모델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E66A5E-AC33-CC8D-522D-1FCBA444BEAA}"/>
              </a:ext>
            </a:extLst>
          </p:cNvPr>
          <p:cNvGraphicFramePr>
            <a:graphicFrameLocks noGrp="1"/>
          </p:cNvGraphicFramePr>
          <p:nvPr/>
        </p:nvGraphicFramePr>
        <p:xfrm>
          <a:off x="2826327" y="6196051"/>
          <a:ext cx="13799128" cy="38127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544032474"/>
                    </a:ext>
                  </a:extLst>
                </a:gridCol>
                <a:gridCol w="12760037">
                  <a:extLst>
                    <a:ext uri="{9D8B030D-6E8A-4147-A177-3AD203B41FA5}">
                      <a16:colId xmlns:a16="http://schemas.microsoft.com/office/drawing/2014/main" val="3980592691"/>
                    </a:ext>
                  </a:extLst>
                </a:gridCol>
              </a:tblGrid>
              <a:tr h="753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AutoNum type="arabicPeriod"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쉽고 빠른 구축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a뉴굴림1" panose="02020600000000000000" pitchFamily="18" charset="-127"/>
                        <a:ea typeface="a뉴굴림1" panose="02020600000000000000" pitchFamily="18" charset="-127"/>
                      </a:endParaRPr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AutoNum type="arabicPeriod"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문서의 특징을 잘 나타내어 여러 분야에 활용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955647"/>
                  </a:ext>
                </a:extLst>
              </a:tr>
              <a:tr h="2946345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단점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a뉴굴림1" panose="02020600000000000000" pitchFamily="18" charset="-127"/>
                        <a:ea typeface="a뉴굴림1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AutoNum type="arabicPeriod"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문맥 의미 반영 부족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a뉴굴림1" panose="02020600000000000000" pitchFamily="18" charset="-127"/>
                        <a:ea typeface="a뉴굴림1" panose="02020600000000000000" pitchFamily="18" charset="-127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    -&gt;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단어의 순서를 고려하지 않아 문장 내 의미적 관계나 맥락을 반영하지 못함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    -&gt; n-gram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을 통해 일부 보완 가능하지만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여전히 문맥적 해석이 어려움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.</a:t>
                      </a:r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AutoNum type="arabicPeriod" startAt="2"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희소 행렬 문제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a뉴굴림1" panose="02020600000000000000" pitchFamily="18" charset="-127"/>
                        <a:ea typeface="a뉴굴림1" panose="02020600000000000000" pitchFamily="18" charset="-127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    -&gt;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많은 문서에서 단어를 추출하다 보면 대부분의 단어가 특정 문서에는 등장하지 않아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0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으로 채워진 거대한 희소 행렬이 만들어짐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    -&gt;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이러한 희소 행렬은 메모리 비효율 및 연산 속도 저하를 초래함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a뉴굴림1" panose="02020600000000000000" pitchFamily="18" charset="-127"/>
                          <a:ea typeface="a뉴굴림1" panose="02020600000000000000" pitchFamily="18" charset="-127"/>
                        </a:rPr>
                        <a:t>.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a뉴굴림1" panose="02020600000000000000" pitchFamily="18" charset="-127"/>
                        <a:ea typeface="a뉴굴림1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7206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8F63-F56B-BBD7-3648-D39D8D4C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6447267D-9083-B397-6700-21F8359AD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C293F1-43C9-57D2-0314-9CB245F4F18B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#02 BOW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피처 벡터화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7DD10-2840-06DA-0F78-52872A1C08E2}"/>
              </a:ext>
            </a:extLst>
          </p:cNvPr>
          <p:cNvSpPr txBox="1"/>
          <p:nvPr/>
        </p:nvSpPr>
        <p:spPr>
          <a:xfrm>
            <a:off x="692457" y="2844032"/>
            <a:ext cx="5828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텍스트를 벡터 값으로 변환하는 것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넓은 범위의 피처 추출에 포함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카운트 기반의 벡터화 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/ TF-IDF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285D5-7E64-0EE5-560E-2B6CB9D14322}"/>
              </a:ext>
            </a:extLst>
          </p:cNvPr>
          <p:cNvSpPr txBox="1"/>
          <p:nvPr/>
        </p:nvSpPr>
        <p:spPr>
          <a:xfrm>
            <a:off x="692457" y="4641260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카운트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벡터화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A19C6D-E41E-7ADF-2D29-8D97FDA2C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5316" y="1780674"/>
            <a:ext cx="9210720" cy="3139494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F5C9F131-02AE-F8A0-300C-EF197D56D540}"/>
              </a:ext>
            </a:extLst>
          </p:cNvPr>
          <p:cNvSpPr/>
          <p:nvPr/>
        </p:nvSpPr>
        <p:spPr>
          <a:xfrm>
            <a:off x="13310886" y="1909823"/>
            <a:ext cx="671332" cy="34724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F7DC8-894E-ACDF-9CC2-673D92334793}"/>
              </a:ext>
            </a:extLst>
          </p:cNvPr>
          <p:cNvSpPr txBox="1"/>
          <p:nvPr/>
        </p:nvSpPr>
        <p:spPr>
          <a:xfrm>
            <a:off x="844857" y="5412576"/>
            <a:ext cx="104632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단어 피처에 값을 부여할 때 각 문서에서 해당 단어가 나타나는 횟수를 부여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카운트 값이 높을수록 중요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=&gt; 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언어의 특성상 문장에서 자주 사용될 수 밖에 없는 단어까지 높은 값을 부여하게 된다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.</a:t>
            </a:r>
          </a:p>
          <a:p>
            <a:pPr marL="457200" indent="-457200">
              <a:buFontTx/>
              <a:buChar char="-"/>
            </a:pPr>
            <a:endParaRPr lang="ko-KR" altLang="en-US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01602-A236-FD8B-79ED-22D81C5F248A}"/>
              </a:ext>
            </a:extLst>
          </p:cNvPr>
          <p:cNvSpPr txBox="1"/>
          <p:nvPr/>
        </p:nvSpPr>
        <p:spPr>
          <a:xfrm>
            <a:off x="692457" y="7346898"/>
            <a:ext cx="11057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#3 TF-IDF (Term Frequency-Inverse Document Frequency)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벡터화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06463-59E8-9457-A454-3F707764C02B}"/>
              </a:ext>
            </a:extLst>
          </p:cNvPr>
          <p:cNvSpPr txBox="1"/>
          <p:nvPr/>
        </p:nvSpPr>
        <p:spPr>
          <a:xfrm>
            <a:off x="844857" y="8118214"/>
            <a:ext cx="1046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자주 나타나는 단어에 높은 가중치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모든 문서에서 자주 나타나는 단어에 대해서는 페널티</a:t>
            </a:r>
            <a:endParaRPr lang="en-US" altLang="ko-KR" sz="24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=&gt; 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문서가 길고 개수가 많은 경우 </a:t>
            </a:r>
            <a:r>
              <a:rPr lang="en-US" altLang="ko-KR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TF-IDF </a:t>
            </a:r>
            <a:r>
              <a:rPr lang="ko-KR" altLang="en-US" sz="24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방식이 더 좋은 예측 성능을 보장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D581939-623F-0ACD-9E38-9046AE67E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08713" y="8257004"/>
            <a:ext cx="6805810" cy="1309635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AA6D02-1F02-7625-1787-4FCA0681E07D}"/>
              </a:ext>
            </a:extLst>
          </p:cNvPr>
          <p:cNvSpPr txBox="1"/>
          <p:nvPr/>
        </p:nvSpPr>
        <p:spPr>
          <a:xfrm>
            <a:off x="692456" y="2096256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피처 벡터화</a:t>
            </a:r>
          </a:p>
        </p:txBody>
      </p:sp>
    </p:spTree>
    <p:extLst>
      <p:ext uri="{BB962C8B-B14F-4D97-AF65-F5344CB8AC3E}">
        <p14:creationId xmlns:p14="http://schemas.microsoft.com/office/powerpoint/2010/main" val="1015148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90E6-D708-2515-DACA-6D3018C9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A530A353-54C9-9AFD-617D-487C07C6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CC575E-E699-4F7C-E774-9439FC3FB769}"/>
              </a:ext>
            </a:extLst>
          </p:cNvPr>
          <p:cNvSpPr txBox="1"/>
          <p:nvPr/>
        </p:nvSpPr>
        <p:spPr>
          <a:xfrm>
            <a:off x="164954" y="220189"/>
            <a:ext cx="1550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#03 </a:t>
            </a:r>
            <a:r>
              <a:rPr lang="ko-KR" altLang="en-US" sz="6000" dirty="0" err="1">
                <a:latin typeface="a아시아헤드2" panose="02020600000000000000" pitchFamily="18" charset="-127"/>
                <a:ea typeface="a아시아헤드2" panose="02020600000000000000" pitchFamily="18" charset="-127"/>
              </a:rPr>
              <a:t>사이킷런의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Count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및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TF-IDF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벡터화 구현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13FDC-B01A-4F54-75FE-AE26A52A1CE1}"/>
              </a:ext>
            </a:extLst>
          </p:cNvPr>
          <p:cNvSpPr txBox="1"/>
          <p:nvPr/>
        </p:nvSpPr>
        <p:spPr>
          <a:xfrm>
            <a:off x="692457" y="2040074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 </a:t>
            </a:r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CountVectorizer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클래스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52BA2-0F98-49F7-1396-1D87D86FB923}"/>
              </a:ext>
            </a:extLst>
          </p:cNvPr>
          <p:cNvSpPr txBox="1"/>
          <p:nvPr/>
        </p:nvSpPr>
        <p:spPr>
          <a:xfrm>
            <a:off x="1080384" y="2669787"/>
            <a:ext cx="15500161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카운트 기반 벡터화를 수행하는 </a:t>
            </a:r>
            <a:r>
              <a:rPr lang="ko-KR" altLang="en-US" sz="2000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사이킷런의</a:t>
            </a: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 클래스</a:t>
            </a:r>
            <a:endParaRPr lang="en-US" altLang="ko-KR" sz="20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소문자 일괄 변환</a:t>
            </a:r>
            <a:r>
              <a:rPr lang="en-US" altLang="ko-KR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, </a:t>
            </a: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토큰화</a:t>
            </a:r>
            <a:r>
              <a:rPr lang="en-US" altLang="ko-KR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, </a:t>
            </a: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스톱 워드 필터링 등 텍스트 전처리도 함께 수행</a:t>
            </a:r>
            <a:endParaRPr lang="en-US" altLang="ko-KR" sz="20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fit(),</a:t>
            </a: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 </a:t>
            </a:r>
            <a:r>
              <a:rPr lang="en-US" altLang="ko-KR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transform()</a:t>
            </a: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을 통해 피처 </a:t>
            </a:r>
            <a:r>
              <a:rPr lang="ko-KR" altLang="en-US" sz="2000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벡터화된</a:t>
            </a:r>
            <a:r>
              <a:rPr lang="ko-KR" altLang="en-US" sz="2000" dirty="0">
                <a:latin typeface="a뉴굴림1" panose="02020600000000000000" pitchFamily="18" charset="-127"/>
                <a:ea typeface="a뉴굴림1" panose="02020600000000000000" pitchFamily="18" charset="-127"/>
              </a:rPr>
              <a:t> 객체를 반환</a:t>
            </a:r>
            <a:endParaRPr lang="en-US" altLang="ko-KR" sz="20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0BC8035-7EEC-09C6-6ADE-51525CD3B0A2}"/>
              </a:ext>
            </a:extLst>
          </p:cNvPr>
          <p:cNvGraphicFramePr>
            <a:graphicFrameLocks noGrp="1"/>
          </p:cNvGraphicFramePr>
          <p:nvPr/>
        </p:nvGraphicFramePr>
        <p:xfrm>
          <a:off x="1451810" y="5266786"/>
          <a:ext cx="14489230" cy="466344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05790">
                  <a:extLst>
                    <a:ext uri="{9D8B030D-6E8A-4147-A177-3AD203B41FA5}">
                      <a16:colId xmlns:a16="http://schemas.microsoft.com/office/drawing/2014/main" val="2548324006"/>
                    </a:ext>
                  </a:extLst>
                </a:gridCol>
                <a:gridCol w="12283440">
                  <a:extLst>
                    <a:ext uri="{9D8B030D-6E8A-4147-A177-3AD203B41FA5}">
                      <a16:colId xmlns:a16="http://schemas.microsoft.com/office/drawing/2014/main" val="1613273939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max_df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너무 자주 등장하는 단어를 제외하기 위한 기준</a:t>
                      </a:r>
                      <a:endParaRPr lang="en-US" altLang="ko-KR" sz="2400" b="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  <a:p>
                      <a:pPr latinLnBrk="1"/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&gt; </a:t>
                      </a:r>
                      <a:r>
                        <a:rPr lang="ko-KR" altLang="en-US" sz="2400" b="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정수값인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경우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: n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개 이하로 나타나는 단어만 피처로 추출</a:t>
                      </a:r>
                      <a:endParaRPr lang="en-US" altLang="ko-KR" sz="2400" b="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  <a:p>
                      <a:pPr latinLnBrk="1"/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&gt; </a:t>
                      </a:r>
                      <a:r>
                        <a:rPr lang="ko-KR" altLang="en-US" sz="2400" b="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소수값인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경우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: 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빈도수 하위 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n% 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단어만 피처로 추출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9053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min_df</a:t>
                      </a:r>
                      <a:endParaRPr 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너무 드물게 등장하는 단어를 제외하기 위한 기준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3596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max_features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추출할 피처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개수 제한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5594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stop_words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해당 언어에서 스톱 워드로 지정된 단어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제거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3198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ngram_range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튜플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형태로 </a:t>
                      </a:r>
                      <a:r>
                        <a:rPr lang="en-US" altLang="ko-KR" sz="2400" b="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n_gram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범위 설정 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(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단어를 몇 개씩 묶어 볼지 범위 지정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)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37448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analyzer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피처 추출을 수행할 단위 지정</a:t>
                      </a:r>
                      <a:endParaRPr lang="en-US" altLang="ko-KR" sz="2400" b="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  <a:p>
                      <a:pPr latinLnBrk="1"/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&gt; default: ‘word’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32217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token_pattern</a:t>
                      </a:r>
                      <a:endParaRPr lang="en-US" sz="240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 dirty="0"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토큰</a:t>
                      </a:r>
                      <a:r>
                        <a:rPr lang="en-US" altLang="ko-KR" sz="2400" b="0" dirty="0"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 </a:t>
                      </a:r>
                      <a:r>
                        <a:rPr lang="ko-KR" altLang="en-US" sz="2400" b="0" dirty="0"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정의를 위한 정규표현식 지정</a:t>
                      </a:r>
                      <a:endParaRPr lang="en-US" altLang="ko-KR" sz="2400" b="0" dirty="0"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  <a:p>
                      <a:pPr latinLnBrk="1"/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&gt; default: ‘\b\w\w+\b’  (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단어 분리가 사이의 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2</a:t>
                      </a:r>
                      <a:r>
                        <a:rPr lang="ko-KR" altLang="en-US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문자 이상의 단어를 토큰으로 분리</a:t>
                      </a:r>
                      <a:r>
                        <a:rPr lang="en-US" altLang="ko-KR" sz="2400" b="0" dirty="0">
                          <a:solidFill>
                            <a:schemeClr val="tx1"/>
                          </a:solidFill>
                          <a:latin typeface="a아시아헤드1" panose="02020600000000000000" pitchFamily="18" charset="-127"/>
                          <a:ea typeface="a아시아헤드1" panose="02020600000000000000" pitchFamily="18" charset="-127"/>
                        </a:rPr>
                        <a:t>)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a아시아헤드1" panose="02020600000000000000" pitchFamily="18" charset="-127"/>
                        <a:ea typeface="a아시아헤드1" panose="02020600000000000000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0261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D6D6C5F-CE23-76D2-5F1F-97EEFFD63052}"/>
              </a:ext>
            </a:extLst>
          </p:cNvPr>
          <p:cNvSpPr txBox="1"/>
          <p:nvPr/>
        </p:nvSpPr>
        <p:spPr>
          <a:xfrm>
            <a:off x="692457" y="4496994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입력 파라미터</a:t>
            </a:r>
          </a:p>
        </p:txBody>
      </p:sp>
    </p:spTree>
    <p:extLst>
      <p:ext uri="{BB962C8B-B14F-4D97-AF65-F5344CB8AC3E}">
        <p14:creationId xmlns:p14="http://schemas.microsoft.com/office/powerpoint/2010/main" val="413681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617C-A8D3-99B2-3E6C-A3B24498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F34C2974-8590-4F44-BDC1-3424B13DA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0AA096-DF34-0686-0608-79D123529919}"/>
              </a:ext>
            </a:extLst>
          </p:cNvPr>
          <p:cNvSpPr txBox="1"/>
          <p:nvPr/>
        </p:nvSpPr>
        <p:spPr>
          <a:xfrm>
            <a:off x="164954" y="220189"/>
            <a:ext cx="1550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#03 </a:t>
            </a:r>
            <a:r>
              <a:rPr lang="ko-KR" altLang="en-US" sz="6000" dirty="0" err="1">
                <a:latin typeface="a아시아헤드2" panose="02020600000000000000" pitchFamily="18" charset="-127"/>
                <a:ea typeface="a아시아헤드2" panose="02020600000000000000" pitchFamily="18" charset="-127"/>
              </a:rPr>
              <a:t>사이킷런의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Count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및 </a:t>
            </a:r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TF-IDF 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벡터화 구현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CDFB-0F36-5E0D-0744-3CB2C4D89D0C}"/>
              </a:ext>
            </a:extLst>
          </p:cNvPr>
          <p:cNvSpPr txBox="1"/>
          <p:nvPr/>
        </p:nvSpPr>
        <p:spPr>
          <a:xfrm>
            <a:off x="692457" y="2161994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#3 </a:t>
            </a:r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CountVectorizer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클래스를 이용한 피처 벡터화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F29D0-E023-4C62-058B-96AB275A1E6C}"/>
              </a:ext>
            </a:extLst>
          </p:cNvPr>
          <p:cNvSpPr txBox="1"/>
          <p:nvPr/>
        </p:nvSpPr>
        <p:spPr>
          <a:xfrm>
            <a:off x="692457" y="7363515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#4 </a:t>
            </a:r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TfidVectorizer</a:t>
            </a:r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클래스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5E65E4-E890-350F-B4FD-633B1D2BDAD8}"/>
              </a:ext>
            </a:extLst>
          </p:cNvPr>
          <p:cNvSpPr txBox="1"/>
          <p:nvPr/>
        </p:nvSpPr>
        <p:spPr>
          <a:xfrm>
            <a:off x="844857" y="8134831"/>
            <a:ext cx="10463223" cy="113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TF-IDF 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벡터화를 수행하는 </a:t>
            </a:r>
            <a:r>
              <a:rPr lang="ko-KR" altLang="en-US" sz="2400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사이킷런의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 클래스</a:t>
            </a:r>
            <a:endParaRPr lang="en-US" altLang="ko-KR" sz="24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파라미터와 변환 방법은 </a:t>
            </a:r>
            <a:r>
              <a:rPr lang="en-US" altLang="ko-KR" sz="2400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CountVectorizer</a:t>
            </a:r>
            <a:r>
              <a:rPr lang="ko-KR" altLang="en-US" sz="2400" dirty="0">
                <a:latin typeface="a뉴굴림1" panose="02020600000000000000" pitchFamily="18" charset="-127"/>
                <a:ea typeface="a뉴굴림1" panose="02020600000000000000" pitchFamily="18" charset="-127"/>
              </a:rPr>
              <a:t>와 동일</a:t>
            </a:r>
            <a:endParaRPr lang="en-US" altLang="ko-KR" sz="2400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E1EE54-D873-9799-17F0-F68F67D89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902" t="16304" r="4438" b="5968"/>
          <a:stretch>
            <a:fillRect/>
          </a:stretch>
        </p:blipFill>
        <p:spPr>
          <a:xfrm>
            <a:off x="1482571" y="3141128"/>
            <a:ext cx="7661429" cy="333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02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DFAF-6C3C-D101-2523-59C82185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224CECE8-399B-2715-622C-0C389ACE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A0737A-5A6F-F261-D753-EFE8457D0E4D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#04 BOW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 벡터화를 위한 희소 행렬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4D5C6-F4FD-F280-8C4D-E7654EF341BA}"/>
              </a:ext>
            </a:extLst>
          </p:cNvPr>
          <p:cNvSpPr txBox="1"/>
          <p:nvPr/>
        </p:nvSpPr>
        <p:spPr>
          <a:xfrm>
            <a:off x="692457" y="1993553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희소 행렬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06E2A-8058-A507-5933-5A7585389421}"/>
              </a:ext>
            </a:extLst>
          </p:cNvPr>
          <p:cNvSpPr txBox="1"/>
          <p:nvPr/>
        </p:nvSpPr>
        <p:spPr>
          <a:xfrm>
            <a:off x="692454" y="4968411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#2 COO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형식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CCE7A-5AD8-0A8D-7329-308B9744CB80}"/>
              </a:ext>
            </a:extLst>
          </p:cNvPr>
          <p:cNvSpPr txBox="1"/>
          <p:nvPr/>
        </p:nvSpPr>
        <p:spPr>
          <a:xfrm>
            <a:off x="844857" y="7088749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#3 CSR </a:t>
            </a:r>
            <a:r>
              <a:rPr lang="ko-KR" altLang="en-US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형식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36BA6-C1C6-3AEE-B141-7BE2263B8806}"/>
              </a:ext>
            </a:extLst>
          </p:cNvPr>
          <p:cNvSpPr txBox="1"/>
          <p:nvPr/>
        </p:nvSpPr>
        <p:spPr>
          <a:xfrm>
            <a:off x="844857" y="2624612"/>
            <a:ext cx="8588703" cy="1705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a뉴굴림1" panose="02020600000000000000" pitchFamily="18" charset="-127"/>
                <a:ea typeface="a뉴굴림1" panose="02020600000000000000" pitchFamily="18" charset="-127"/>
              </a:rPr>
              <a:t>대부분의 값이 </a:t>
            </a:r>
            <a:r>
              <a:rPr lang="en-US" altLang="ko-KR" b="1" dirty="0">
                <a:latin typeface="a뉴굴림1" panose="02020600000000000000" pitchFamily="18" charset="-127"/>
                <a:ea typeface="a뉴굴림1" panose="02020600000000000000" pitchFamily="18" charset="-127"/>
              </a:rPr>
              <a:t>0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인 대규모 행렬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BOW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기반의 텍스트 벡터화 결과는 대부분 희소 행렬 형태로 표현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메모리 공간이 많이 필요</a:t>
            </a: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,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연산 시 데이터 액세스를 위한 시간이 많이 소모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=&gt; COO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형식 </a:t>
            </a: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/ CSR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형식으로 변환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63B824-69C1-51EB-85F4-A54343ADFA4D}"/>
              </a:ext>
            </a:extLst>
          </p:cNvPr>
          <p:cNvSpPr txBox="1"/>
          <p:nvPr/>
        </p:nvSpPr>
        <p:spPr>
          <a:xfrm>
            <a:off x="844857" y="5440620"/>
            <a:ext cx="13297863" cy="8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0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이 아닌 </a:t>
            </a:r>
            <a:r>
              <a:rPr lang="ko-KR" altLang="en-US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데이터값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 </a:t>
            </a: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+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그 데이터가 저장된 행과 열의 위치를 별도로 저장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=&gt;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문제점</a:t>
            </a: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: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위치 데이터를 반복적으로 저장해서 데이터 중복이 많음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5605F-1C1C-FFB2-648C-95B8757343BA}"/>
              </a:ext>
            </a:extLst>
          </p:cNvPr>
          <p:cNvSpPr txBox="1"/>
          <p:nvPr/>
        </p:nvSpPr>
        <p:spPr>
          <a:xfrm>
            <a:off x="844857" y="7765396"/>
            <a:ext cx="13297863" cy="1705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행 위치 배열의 고유한 값의 시작 위치만 표기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마지막에 데이터의 총 항목 개수 추가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COO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방식모다 효율적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=&gt; </a:t>
            </a:r>
            <a:r>
              <a:rPr lang="en-US" altLang="ko-KR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CountVectorizer</a:t>
            </a: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/</a:t>
            </a:r>
            <a:r>
              <a:rPr lang="en-US" altLang="ko-KR" dirty="0" err="1">
                <a:latin typeface="a뉴굴림1" panose="02020600000000000000" pitchFamily="18" charset="-127"/>
                <a:ea typeface="a뉴굴림1" panose="02020600000000000000" pitchFamily="18" charset="-127"/>
              </a:rPr>
              <a:t>TfidfVectorizer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는 </a:t>
            </a:r>
            <a:r>
              <a:rPr lang="en-US" altLang="ko-KR" dirty="0">
                <a:latin typeface="a뉴굴림1" panose="02020600000000000000" pitchFamily="18" charset="-127"/>
                <a:ea typeface="a뉴굴림1" panose="02020600000000000000" pitchFamily="18" charset="-127"/>
              </a:rPr>
              <a:t>CSR </a:t>
            </a:r>
            <a:r>
              <a:rPr lang="ko-KR" altLang="en-US" dirty="0">
                <a:latin typeface="a뉴굴림1" panose="02020600000000000000" pitchFamily="18" charset="-127"/>
                <a:ea typeface="a뉴굴림1" panose="02020600000000000000" pitchFamily="18" charset="-127"/>
              </a:rPr>
              <a:t>형식의 희소 행렬 반환</a:t>
            </a:r>
            <a:endParaRPr lang="en-US" altLang="ko-KR" dirty="0">
              <a:latin typeface="a뉴굴림1" panose="02020600000000000000" pitchFamily="18" charset="-127"/>
              <a:ea typeface="a뉴굴림1" panose="02020600000000000000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FA141F5-368E-480F-A20E-D0AA7FA20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47084" y="4156364"/>
            <a:ext cx="8205989" cy="278028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D29DE2-16E3-3A4E-C9A7-B6DFD770BB76}"/>
              </a:ext>
            </a:extLst>
          </p:cNvPr>
          <p:cNvSpPr/>
          <p:nvPr/>
        </p:nvSpPr>
        <p:spPr>
          <a:xfrm>
            <a:off x="14454060" y="5456752"/>
            <a:ext cx="2499007" cy="2243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B84B9E6-592F-2F5E-A9BB-95BAC6C4F3E6}"/>
              </a:ext>
            </a:extLst>
          </p:cNvPr>
          <p:cNvCxnSpPr>
            <a:cxnSpLocks/>
          </p:cNvCxnSpPr>
          <p:nvPr/>
        </p:nvCxnSpPr>
        <p:spPr>
          <a:xfrm>
            <a:off x="15824296" y="5077239"/>
            <a:ext cx="0" cy="344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5384D8-C8EF-4B1A-1307-CE7DB3C073C0}"/>
              </a:ext>
            </a:extLst>
          </p:cNvPr>
          <p:cNvSpPr/>
          <p:nvPr/>
        </p:nvSpPr>
        <p:spPr>
          <a:xfrm>
            <a:off x="14655923" y="4444560"/>
            <a:ext cx="2221950" cy="5975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순차적으로 증가하는 값으로 이루어짐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6635499-059A-3DAA-E943-8262AE27D7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70724" y="7780410"/>
            <a:ext cx="8558878" cy="1602899"/>
          </a:xfrm>
          <a:prstGeom prst="rect">
            <a:avLst/>
          </a:prstGeom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481AA8CD-1BDB-4C1C-CFD7-BF9DF8A575BC}"/>
              </a:ext>
            </a:extLst>
          </p:cNvPr>
          <p:cNvSpPr/>
          <p:nvPr/>
        </p:nvSpPr>
        <p:spPr>
          <a:xfrm>
            <a:off x="12862560" y="6903720"/>
            <a:ext cx="624840" cy="71924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115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7EB8-F7B6-3F80-7B34-DBF943FD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660B7C8B-E3A2-845D-A379-354F6FDF0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6B9F4A-4761-D6F8-A50A-C209EFF354B9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#04 BOW</a:t>
            </a:r>
            <a:r>
              <a:rPr lang="ko-KR" altLang="en-US" sz="6000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 벡터화를 위한 희소 행렬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B0549-9D0C-790F-4B74-A05868965286}"/>
              </a:ext>
            </a:extLst>
          </p:cNvPr>
          <p:cNvSpPr txBox="1"/>
          <p:nvPr/>
        </p:nvSpPr>
        <p:spPr>
          <a:xfrm>
            <a:off x="428818" y="1829797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#4 </a:t>
            </a:r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sparse.coo_matrix</a:t>
            </a: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CECB7-E30E-2C89-F3E6-2449C18B5232}"/>
              </a:ext>
            </a:extLst>
          </p:cNvPr>
          <p:cNvSpPr txBox="1"/>
          <p:nvPr/>
        </p:nvSpPr>
        <p:spPr>
          <a:xfrm>
            <a:off x="6097664" y="1857942"/>
            <a:ext cx="766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#5 </a:t>
            </a:r>
            <a:r>
              <a:rPr lang="en-US" altLang="ko-KR" sz="2800" dirty="0" err="1">
                <a:latin typeface="a아시아헤드1" panose="02020600000000000000" pitchFamily="18" charset="-127"/>
                <a:ea typeface="a아시아헤드1" panose="02020600000000000000" pitchFamily="18" charset="-127"/>
              </a:rPr>
              <a:t>sparse.csr_matrix</a:t>
            </a:r>
            <a:endParaRPr lang="ko-KR" altLang="en-US" sz="2800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DAFB657-B286-CE45-8D46-14EA93B67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21" y="2684965"/>
            <a:ext cx="4426591" cy="418475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7244EAB-0B83-81D1-EF81-523AF6107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838" y="2684965"/>
            <a:ext cx="4858428" cy="53728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B97B423-5BD1-4328-3692-4A2B56D3F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850" y="2684965"/>
            <a:ext cx="4925112" cy="2648320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0A14605-63A2-DFBD-34A5-8CD6C83D2010}"/>
              </a:ext>
            </a:extLst>
          </p:cNvPr>
          <p:cNvSpPr/>
          <p:nvPr/>
        </p:nvSpPr>
        <p:spPr>
          <a:xfrm>
            <a:off x="1408846" y="8628186"/>
            <a:ext cx="14487646" cy="9155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실제</a:t>
            </a:r>
            <a:r>
              <a:rPr lang="en-US" altLang="ko-KR" sz="2800" dirty="0"/>
              <a:t> </a:t>
            </a:r>
            <a:r>
              <a:rPr lang="ko-KR" altLang="en-US" sz="2800" dirty="0"/>
              <a:t>사용 시에는 밀집 행렬을 생성 파라미터로 입력하면 </a:t>
            </a:r>
            <a:r>
              <a:rPr lang="en-US" altLang="ko-KR" sz="2800" dirty="0"/>
              <a:t>COO</a:t>
            </a:r>
            <a:r>
              <a:rPr lang="ko-KR" altLang="en-US" sz="2800" dirty="0"/>
              <a:t>나 </a:t>
            </a:r>
            <a:r>
              <a:rPr lang="en-US" altLang="ko-KR" sz="2800" dirty="0"/>
              <a:t>CSR</a:t>
            </a:r>
            <a:r>
              <a:rPr lang="ko-KR" altLang="en-US" sz="2800" dirty="0"/>
              <a:t>로 자동 생성 된다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65867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4E59-C45C-4163-9D85-61BDAEB2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5FBA477A-FAE2-0F37-B3E5-BB90A88AC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150947-F038-B573-62D2-FDCD92D4EE19}"/>
              </a:ext>
            </a:extLst>
          </p:cNvPr>
          <p:cNvSpPr txBox="1"/>
          <p:nvPr/>
        </p:nvSpPr>
        <p:spPr>
          <a:xfrm>
            <a:off x="77213" y="4625111"/>
            <a:ext cx="92992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8.5 </a:t>
            </a:r>
            <a:r>
              <a:rPr lang="ko-KR" altLang="en-US" sz="66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감성 분석</a:t>
            </a:r>
          </a:p>
        </p:txBody>
      </p:sp>
    </p:spTree>
    <p:extLst>
      <p:ext uri="{BB962C8B-B14F-4D97-AF65-F5344CB8AC3E}">
        <p14:creationId xmlns:p14="http://schemas.microsoft.com/office/powerpoint/2010/main" val="3220562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E188-F61F-E92B-DD34-5CF0EE46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7F5C76A9-8BB4-716E-2D1A-D38B91AC1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E965E9-77F3-FA94-48CF-91CE901F12F0}"/>
              </a:ext>
            </a:extLst>
          </p:cNvPr>
          <p:cNvSpPr txBox="1"/>
          <p:nvPr/>
        </p:nvSpPr>
        <p:spPr>
          <a:xfrm>
            <a:off x="164955" y="220189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#1 </a:t>
            </a:r>
            <a:r>
              <a:rPr lang="ko-KR" altLang="en-US" sz="6000" b="1" dirty="0"/>
              <a:t>감성 분석 소개</a:t>
            </a:r>
            <a:endParaRPr lang="ko-KR" altLang="en-US" sz="6000" b="1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62D9F-ACC9-E8B0-889D-76B4791924CB}"/>
              </a:ext>
            </a:extLst>
          </p:cNvPr>
          <p:cNvSpPr txBox="1"/>
          <p:nvPr/>
        </p:nvSpPr>
        <p:spPr>
          <a:xfrm>
            <a:off x="346228" y="1773336"/>
            <a:ext cx="835388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#1-1 </a:t>
            </a:r>
            <a:r>
              <a:rPr lang="ko-KR" altLang="en-US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감성 분석 개념</a:t>
            </a:r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ea typeface="a아시아헤드1" panose="02020600000000000000" pitchFamily="18" charset="-127"/>
              </a:rPr>
              <a:t>목적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ea typeface="a아시아헤드1" panose="02020600000000000000" pitchFamily="18" charset="-127"/>
              </a:rPr>
              <a:t>: </a:t>
            </a:r>
            <a:r>
              <a:rPr lang="ko-KR" altLang="en-US" sz="2800" dirty="0">
                <a:ea typeface="a아시아헤드1" panose="02020600000000000000" pitchFamily="18" charset="-127"/>
              </a:rPr>
              <a:t>문서에 담긴 </a:t>
            </a:r>
            <a:r>
              <a:rPr lang="ko-KR" altLang="en-US" sz="2800" dirty="0"/>
              <a:t>주관적인 감성</a:t>
            </a:r>
            <a:r>
              <a:rPr lang="en-US" altLang="ko-KR" sz="2800" dirty="0"/>
              <a:t>/</a:t>
            </a:r>
            <a:r>
              <a:rPr lang="ko-KR" altLang="en-US" sz="2800" dirty="0"/>
              <a:t>의견</a:t>
            </a:r>
            <a:r>
              <a:rPr lang="en-US" altLang="ko-KR" sz="2800" dirty="0"/>
              <a:t>/</a:t>
            </a:r>
            <a:r>
              <a:rPr lang="ko-KR" altLang="en-US" sz="2800" dirty="0"/>
              <a:t>기분 등을 파악</a:t>
            </a:r>
            <a:endParaRPr lang="en-US" altLang="ko-KR" sz="2800" dirty="0"/>
          </a:p>
          <a:p>
            <a:endParaRPr lang="en-US" altLang="ko-KR" sz="28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ea typeface="a아시아헤드1" panose="02020600000000000000" pitchFamily="18" charset="-127"/>
              </a:rPr>
              <a:t>활용 분야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ea typeface="a아시아헤드1" panose="02020600000000000000" pitchFamily="18" charset="-127"/>
              </a:rPr>
              <a:t>: </a:t>
            </a:r>
            <a:r>
              <a:rPr lang="ko-KR" altLang="en-US" sz="2800" dirty="0">
                <a:ea typeface="a아시아헤드1" panose="02020600000000000000" pitchFamily="18" charset="-127"/>
              </a:rPr>
              <a:t>소셜 미디어 글 </a:t>
            </a:r>
            <a:r>
              <a:rPr lang="en-US" altLang="ko-KR" sz="2800" dirty="0">
                <a:ea typeface="a아시아헤드1" panose="02020600000000000000" pitchFamily="18" charset="-127"/>
              </a:rPr>
              <a:t>/ </a:t>
            </a:r>
            <a:r>
              <a:rPr lang="ko-KR" altLang="en-US" sz="2800" dirty="0">
                <a:ea typeface="a아시아헤드1" panose="02020600000000000000" pitchFamily="18" charset="-127"/>
              </a:rPr>
              <a:t>여론조사 응답 </a:t>
            </a:r>
            <a:r>
              <a:rPr lang="en-US" altLang="ko-KR" sz="2800" dirty="0">
                <a:ea typeface="a아시아헤드1" panose="02020600000000000000" pitchFamily="18" charset="-127"/>
              </a:rPr>
              <a:t>/ </a:t>
            </a:r>
            <a:r>
              <a:rPr lang="ko-KR" altLang="en-US" sz="2800" dirty="0">
                <a:ea typeface="a아시아헤드1" panose="02020600000000000000" pitchFamily="18" charset="-127"/>
              </a:rPr>
              <a:t>온라인 리뷰 등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endParaRPr lang="en-US" altLang="ko-KR" sz="2800" dirty="0">
              <a:ea typeface="a아시아헤드1" panose="02020600000000000000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ea typeface="a아시아헤드1" panose="02020600000000000000" pitchFamily="18" charset="-127"/>
              </a:rPr>
              <a:t>핵심 아이디어</a:t>
            </a:r>
            <a:endParaRPr lang="en-US" altLang="ko-KR" sz="2800" dirty="0">
              <a:ea typeface="a아시아헤드1" panose="02020600000000000000" pitchFamily="18" charset="-127"/>
            </a:endParaRPr>
          </a:p>
          <a:p>
            <a:r>
              <a:rPr lang="en-US" altLang="ko-KR" sz="2800" dirty="0">
                <a:ea typeface="a아시아헤드1" panose="02020600000000000000" pitchFamily="18" charset="-127"/>
              </a:rPr>
              <a:t>:  </a:t>
            </a:r>
            <a:r>
              <a:rPr lang="ko-KR" altLang="en-US" sz="2800" dirty="0"/>
              <a:t>문서 속의 주관적인 단어와 문맥을 기반으로 감성 점수를 계산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>
                <a:ea typeface="a아시아헤드2" panose="02020600000000000000"/>
              </a:rPr>
              <a:t>→ </a:t>
            </a:r>
            <a:r>
              <a:rPr lang="ko-KR" altLang="en-US" sz="2800" dirty="0">
                <a:ea typeface="a아시아헤드1" panose="02020600000000000000" pitchFamily="18" charset="-127"/>
              </a:rPr>
              <a:t>보통 긍정 감성 지수와 부정 감성 지수</a:t>
            </a:r>
            <a:r>
              <a:rPr lang="en-US" altLang="ko-KR" sz="2800" dirty="0">
                <a:ea typeface="a아시아헤드1" panose="02020600000000000000" pitchFamily="18" charset="-127"/>
              </a:rPr>
              <a:t>, </a:t>
            </a:r>
          </a:p>
          <a:p>
            <a:r>
              <a:rPr lang="ko-KR" altLang="en-US" sz="2800" dirty="0">
                <a:ea typeface="a아시아헤드1" panose="02020600000000000000" pitchFamily="18" charset="-127"/>
              </a:rPr>
              <a:t>두 </a:t>
            </a:r>
            <a:r>
              <a:rPr lang="ko-KR" altLang="en-US" sz="2800" dirty="0"/>
              <a:t>지수를 계산한 뒤</a:t>
            </a:r>
            <a:r>
              <a:rPr lang="en-US" altLang="ko-KR" sz="2800" dirty="0"/>
              <a:t> </a:t>
            </a:r>
            <a:r>
              <a:rPr lang="ko-KR" altLang="en-US" sz="2800" dirty="0"/>
              <a:t>이를 종합해 문서가 긍정적</a:t>
            </a:r>
            <a:r>
              <a:rPr lang="en-US" altLang="ko-KR" sz="2800" dirty="0"/>
              <a:t>/</a:t>
            </a:r>
            <a:r>
              <a:rPr lang="ko-KR" altLang="en-US" sz="2800" dirty="0"/>
              <a:t>부정적인지 판단</a:t>
            </a:r>
            <a:endParaRPr lang="en-US" altLang="ko-KR" sz="2800" dirty="0">
              <a:ea typeface="a아시아헤드1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A379E-6188-EA81-1895-2B28CF9238F5}"/>
              </a:ext>
            </a:extLst>
          </p:cNvPr>
          <p:cNvSpPr txBox="1"/>
          <p:nvPr/>
        </p:nvSpPr>
        <p:spPr>
          <a:xfrm>
            <a:off x="9046339" y="1773336"/>
            <a:ext cx="8223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아시아헤드1" panose="02020600000000000000" pitchFamily="18" charset="-127"/>
                <a:ea typeface="a아시아헤드1" panose="02020600000000000000" pitchFamily="18" charset="-127"/>
              </a:rPr>
              <a:t>#1-2 </a:t>
            </a:r>
            <a:r>
              <a:rPr lang="ko-KR" altLang="en-US" sz="2800" b="1" dirty="0" err="1"/>
              <a:t>머신러닝</a:t>
            </a:r>
            <a:r>
              <a:rPr lang="ko-KR" altLang="en-US" sz="2800" b="1" dirty="0"/>
              <a:t> 관점에서의 감성 분석 방법</a:t>
            </a:r>
            <a:endParaRPr lang="en-US" altLang="ko-KR" sz="2800" b="1" dirty="0">
              <a:latin typeface="a아시아헤드1" panose="02020600000000000000" pitchFamily="18" charset="-127"/>
              <a:ea typeface="a아시아헤드1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2D75D-AF22-A602-1F38-AEE965FF5ED0}"/>
              </a:ext>
            </a:extLst>
          </p:cNvPr>
          <p:cNvSpPr txBox="1"/>
          <p:nvPr/>
        </p:nvSpPr>
        <p:spPr>
          <a:xfrm>
            <a:off x="9036423" y="2452079"/>
            <a:ext cx="823326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dirty="0">
                <a:ea typeface="a아시아헤드2" panose="02020600000000000000"/>
              </a:rPr>
              <a:t>1-2-1. </a:t>
            </a:r>
            <a:r>
              <a:rPr lang="ko-KR" altLang="en-US" sz="2800" dirty="0">
                <a:ea typeface="a아시아헤드2" panose="02020600000000000000"/>
              </a:rPr>
              <a:t>지도학습 기반 감성 분석</a:t>
            </a:r>
            <a:endParaRPr lang="en-US" altLang="ko-KR" sz="28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800" dirty="0">
                <a:ea typeface="a아시아헤드2" panose="02020600000000000000"/>
              </a:rPr>
              <a:t>학습 데이터와 그에 대응하는 타깃 레이블을 이용</a:t>
            </a:r>
            <a:endParaRPr lang="en-US" altLang="ko-KR" sz="2800" dirty="0">
              <a:ea typeface="a아시아헤드2" panose="02020600000000000000"/>
            </a:endParaRPr>
          </a:p>
          <a:p>
            <a:r>
              <a:rPr lang="en-US" altLang="ko-KR" sz="2800" dirty="0">
                <a:ea typeface="a아시아헤드2" panose="02020600000000000000"/>
              </a:rPr>
              <a:t>- </a:t>
            </a:r>
            <a:r>
              <a:rPr lang="ko-KR" altLang="en-US" sz="2800" dirty="0">
                <a:ea typeface="a아시아헤드2" panose="02020600000000000000"/>
              </a:rPr>
              <a:t>이 데이터로 감성 분류 모델을 학습한 뒤</a:t>
            </a:r>
            <a:r>
              <a:rPr lang="en-US" altLang="ko-KR" sz="2800" dirty="0">
                <a:ea typeface="a아시아헤드2" panose="02020600000000000000"/>
              </a:rPr>
              <a:t>, </a:t>
            </a:r>
            <a:r>
              <a:rPr lang="ko-KR" altLang="en-US" sz="2800" dirty="0">
                <a:ea typeface="a아시아헤드2" panose="02020600000000000000"/>
              </a:rPr>
              <a:t>새로운 데이터의 감성을 예측</a:t>
            </a:r>
          </a:p>
          <a:p>
            <a:pPr lvl="1"/>
            <a:endParaRPr lang="ko-KR" altLang="en-US" sz="28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800" dirty="0">
                <a:ea typeface="a아시아헤드2" panose="02020600000000000000"/>
              </a:rPr>
              <a:t>1-2-2. </a:t>
            </a:r>
            <a:r>
              <a:rPr lang="ko-KR" altLang="en-US" sz="2800" dirty="0">
                <a:ea typeface="a아시아헤드2" panose="02020600000000000000"/>
              </a:rPr>
              <a:t>비지도학습 기반 감성 분석</a:t>
            </a:r>
            <a:endParaRPr lang="en-US" altLang="ko-KR" sz="28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800" dirty="0">
                <a:ea typeface="a아시아헤드2" panose="02020600000000000000"/>
              </a:rPr>
              <a:t>Lexicon(</a:t>
            </a:r>
            <a:r>
              <a:rPr lang="ko-KR" altLang="en-US" sz="2800" dirty="0">
                <a:ea typeface="a아시아헤드2" panose="02020600000000000000"/>
              </a:rPr>
              <a:t>감성 어휘 사전</a:t>
            </a:r>
            <a:r>
              <a:rPr lang="en-US" altLang="ko-KR" sz="2800" dirty="0">
                <a:ea typeface="a아시아헤드2" panose="02020600000000000000"/>
              </a:rPr>
              <a:t>) </a:t>
            </a:r>
            <a:r>
              <a:rPr lang="ko-KR" altLang="en-US" sz="2800" dirty="0">
                <a:ea typeface="a아시아헤드2" panose="02020600000000000000"/>
              </a:rPr>
              <a:t>사용</a:t>
            </a:r>
            <a:endParaRPr lang="en-US" altLang="ko-KR" sz="28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800" dirty="0">
                <a:ea typeface="a아시아헤드2" panose="02020600000000000000"/>
              </a:rPr>
              <a:t> </a:t>
            </a:r>
            <a:r>
              <a:rPr lang="ko-KR" altLang="en-US" sz="2800" dirty="0">
                <a:ea typeface="a아시아헤드2" panose="02020600000000000000"/>
              </a:rPr>
              <a:t>문서에 포함된 단어들을 </a:t>
            </a:r>
            <a:r>
              <a:rPr lang="en-US" altLang="ko-KR" sz="2800" dirty="0">
                <a:ea typeface="a아시아헤드2" panose="02020600000000000000"/>
              </a:rPr>
              <a:t>Lexicon</a:t>
            </a:r>
            <a:r>
              <a:rPr lang="ko-KR" altLang="en-US" sz="2800" dirty="0">
                <a:ea typeface="a아시아헤드2" panose="02020600000000000000"/>
              </a:rPr>
              <a:t>과 매칭하여</a:t>
            </a:r>
            <a:r>
              <a:rPr lang="en-US" altLang="ko-KR" sz="2800" dirty="0">
                <a:ea typeface="a아시아헤드2" panose="02020600000000000000"/>
              </a:rPr>
              <a:t> </a:t>
            </a:r>
            <a:r>
              <a:rPr lang="ko-KR" altLang="en-US" sz="2800" dirty="0">
                <a:ea typeface="a아시아헤드2" panose="02020600000000000000"/>
              </a:rPr>
              <a:t>그 문서가 긍정인지 부정인지를 판단</a:t>
            </a:r>
            <a:endParaRPr lang="en-US" altLang="ko-KR" sz="28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800" dirty="0">
                <a:ea typeface="a아시아헤드2" panose="02020600000000000000"/>
              </a:rPr>
              <a:t>레이블이 붙은 학습 데이터 없이도 사용 가능</a:t>
            </a:r>
            <a:endParaRPr lang="en-US" altLang="ko-KR" sz="28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800" dirty="0">
                <a:ea typeface="a아시아헤드2" panose="02020600000000000000"/>
              </a:rPr>
              <a:t> </a:t>
            </a:r>
            <a:r>
              <a:rPr lang="ko-KR" altLang="en-US" sz="2800" dirty="0">
                <a:ea typeface="a아시아헤드2" panose="02020600000000000000"/>
              </a:rPr>
              <a:t>‘단어 </a:t>
            </a:r>
            <a:r>
              <a:rPr lang="ko-KR" altLang="en-US" sz="2800" dirty="0" err="1">
                <a:ea typeface="a아시아헤드2" panose="02020600000000000000"/>
              </a:rPr>
              <a:t>사전’의</a:t>
            </a:r>
            <a:r>
              <a:rPr lang="ko-KR" altLang="en-US" sz="2800" dirty="0">
                <a:ea typeface="a아시아헤드2" panose="02020600000000000000"/>
              </a:rPr>
              <a:t> 품질에 따라 성능이 크게 좌우됨</a:t>
            </a:r>
          </a:p>
        </p:txBody>
      </p:sp>
    </p:spTree>
    <p:extLst>
      <p:ext uri="{BB962C8B-B14F-4D97-AF65-F5344CB8AC3E}">
        <p14:creationId xmlns:p14="http://schemas.microsoft.com/office/powerpoint/2010/main" val="1877982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5480-8974-8D07-A212-F00761B9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EE722C16-0068-921F-1EC4-780DD992D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E90460-C3CF-39E1-ECBA-9FB229E5087E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ea typeface="a아시아헤드2"/>
                <a:cs typeface="+mn-lt"/>
              </a:rPr>
              <a:t>2 </a:t>
            </a:r>
            <a:r>
              <a:rPr lang="ko-KR" altLang="en-US" sz="4800" b="1" dirty="0">
                <a:ea typeface="a아시아헤드2"/>
                <a:cs typeface="+mn-lt"/>
              </a:rPr>
              <a:t>지도학습 기반 감성 분석 실습 </a:t>
            </a:r>
            <a:r>
              <a:rPr lang="en-US" altLang="ko-KR" sz="4800" b="1" dirty="0">
                <a:ea typeface="a아시아헤드2"/>
                <a:cs typeface="+mn-lt"/>
              </a:rPr>
              <a:t>– IMDB </a:t>
            </a:r>
            <a:r>
              <a:rPr lang="ko-KR" altLang="en-US" sz="4800" b="1" dirty="0">
                <a:ea typeface="a아시아헤드2"/>
                <a:cs typeface="+mn-lt"/>
              </a:rPr>
              <a:t>영화평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7884F6-8B9D-7DFD-5F22-233901A1B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5" y="1451933"/>
            <a:ext cx="9934838" cy="8835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A9CE98-4AA0-54C0-2164-66BC075B88B9}"/>
              </a:ext>
            </a:extLst>
          </p:cNvPr>
          <p:cNvSpPr txBox="1"/>
          <p:nvPr/>
        </p:nvSpPr>
        <p:spPr>
          <a:xfrm>
            <a:off x="10099793" y="1531076"/>
            <a:ext cx="7140457" cy="830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600" b="1" dirty="0">
                <a:ea typeface="a아시아헤드2" panose="02020600000000000000"/>
              </a:rPr>
              <a:t>#2-1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파일 형식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labeledTrainData.tsv</a:t>
            </a:r>
            <a:endParaRPr lang="en-US" altLang="ko-KR" sz="2400" dirty="0">
              <a:latin typeface="Courier New" panose="02070309020205020404" pitchFamily="49" charset="0"/>
              <a:ea typeface="a아시아헤드2" panose="02020600000000000000"/>
            </a:endParaRPr>
          </a:p>
          <a:p>
            <a:pPr marL="800100" lvl="1" indent="-342900">
              <a:buFontTx/>
              <a:buChar char="-"/>
            </a:pPr>
            <a:r>
              <a:rPr lang="ko-KR" altLang="en-US" sz="2400" dirty="0" err="1">
                <a:ea typeface="a아시아헤드2" panose="02020600000000000000"/>
              </a:rPr>
              <a:t>구분자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탭 문자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\t</a:t>
            </a:r>
            <a:r>
              <a:rPr lang="en-US" altLang="ko-KR" sz="2400" dirty="0">
                <a:ea typeface="a아시아헤드2" panose="0202060000000000000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a아시아헤드2" panose="02020600000000000000"/>
              </a:rPr>
              <a:t>Pandas</a:t>
            </a:r>
            <a:r>
              <a:rPr lang="ko-KR" altLang="en-US" sz="2400" dirty="0">
                <a:ea typeface="a아시아헤드2" panose="02020600000000000000"/>
              </a:rPr>
              <a:t>로 로딩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: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sep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="\t"</a:t>
            </a:r>
            <a:r>
              <a:rPr lang="ko-KR" altLang="en-US" sz="2400" dirty="0">
                <a:ea typeface="a아시아헤드2" panose="02020600000000000000"/>
              </a:rPr>
              <a:t> 인자를 주어 탭 구분 파일을 </a:t>
            </a:r>
            <a:r>
              <a:rPr lang="en-US" altLang="ko-KR" sz="2400" dirty="0" err="1">
                <a:ea typeface="a아시아헤드2" panose="02020600000000000000"/>
              </a:rPr>
              <a:t>DataFrame</a:t>
            </a:r>
            <a:r>
              <a:rPr lang="ko-KR" altLang="en-US" sz="2400" dirty="0">
                <a:ea typeface="a아시아헤드2" panose="02020600000000000000"/>
              </a:rPr>
              <a:t>으로 </a:t>
            </a:r>
            <a:r>
              <a:rPr lang="ko-KR" altLang="en-US" sz="2400" dirty="0" err="1">
                <a:ea typeface="a아시아헤드2" panose="02020600000000000000"/>
              </a:rPr>
              <a:t>읽어들일</a:t>
            </a:r>
            <a:r>
              <a:rPr lang="ko-KR" altLang="en-US" sz="2400" dirty="0">
                <a:ea typeface="a아시아헤드2" panose="02020600000000000000"/>
              </a:rPr>
              <a:t> 수 있음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주요 칼럼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id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각 데이터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리뷰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의 고유 </a:t>
            </a:r>
            <a:r>
              <a:rPr lang="en-US" altLang="ko-KR" sz="2400" dirty="0">
                <a:ea typeface="a아시아헤드2" panose="02020600000000000000"/>
              </a:rPr>
              <a:t>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sentiment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영화 리뷰의 감성 레이블</a:t>
            </a:r>
            <a:endParaRPr lang="en-US" altLang="ko-KR" sz="2400" dirty="0">
              <a:ea typeface="a아시아헤드2" panose="02020600000000000000"/>
            </a:endParaRPr>
          </a:p>
          <a:p>
            <a:pPr lvl="2"/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- 1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긍정적 평가</a:t>
            </a:r>
          </a:p>
          <a:p>
            <a:pPr lvl="2"/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- 0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부정적 평가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review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실제 영화평 텍스트</a:t>
            </a:r>
            <a:br>
              <a:rPr lang="en-US" altLang="ko-KR" sz="2400" dirty="0">
                <a:ea typeface="a아시아헤드2" panose="02020600000000000000"/>
              </a:rPr>
            </a:br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600" b="1" dirty="0">
                <a:ea typeface="a아시아헤드2" panose="02020600000000000000"/>
              </a:rPr>
              <a:t>#2-2 review </a:t>
            </a:r>
            <a:r>
              <a:rPr lang="ko-KR" altLang="en-US" sz="2600" b="1" dirty="0">
                <a:ea typeface="a아시아헤드2" panose="02020600000000000000"/>
              </a:rPr>
              <a:t>텍스트 예시 확인 및 </a:t>
            </a:r>
            <a:r>
              <a:rPr lang="ko-KR" altLang="en-US" sz="2600" b="1" dirty="0" err="1">
                <a:ea typeface="a아시아헤드2" panose="02020600000000000000"/>
              </a:rPr>
              <a:t>전처리</a:t>
            </a:r>
            <a:r>
              <a:rPr lang="ko-KR" altLang="en-US" sz="2600" b="1" dirty="0">
                <a:ea typeface="a아시아헤드2" panose="02020600000000000000"/>
              </a:rPr>
              <a:t> 필요성</a:t>
            </a:r>
            <a:endParaRPr lang="en-US" altLang="ko-KR" sz="26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800" b="1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review</a:t>
            </a:r>
            <a:r>
              <a:rPr lang="ko-KR" altLang="en-US" sz="2400" dirty="0">
                <a:ea typeface="a아시아헤드2" panose="02020600000000000000"/>
              </a:rPr>
              <a:t> 칼럼의 값을 하나 출력해 보면</a:t>
            </a:r>
            <a:r>
              <a:rPr lang="en-US" altLang="ko-KR" sz="2400" dirty="0">
                <a:ea typeface="a아시아헤드2" panose="02020600000000000000"/>
              </a:rPr>
              <a:t>, HTML </a:t>
            </a:r>
            <a:r>
              <a:rPr lang="ko-KR" altLang="en-US" sz="2400" dirty="0">
                <a:ea typeface="a아시아헤드2" panose="02020600000000000000"/>
              </a:rPr>
              <a:t>형식에서 추출되어 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&lt;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br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 /&gt;</a:t>
            </a:r>
            <a:r>
              <a:rPr lang="ko-KR" altLang="en-US" sz="2400" dirty="0">
                <a:ea typeface="a아시아헤드2" panose="02020600000000000000"/>
              </a:rPr>
              <a:t> 태그가 그대로 남아 있음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&lt;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br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 /&gt;</a:t>
            </a:r>
            <a:r>
              <a:rPr lang="ko-KR" altLang="en-US" sz="2400" dirty="0">
                <a:ea typeface="a아시아헤드2" panose="02020600000000000000"/>
              </a:rPr>
              <a:t> 같은 </a:t>
            </a:r>
            <a:r>
              <a:rPr lang="en-US" altLang="ko-KR" sz="2400" dirty="0">
                <a:ea typeface="a아시아헤드2" panose="02020600000000000000"/>
              </a:rPr>
              <a:t>HTML </a:t>
            </a:r>
            <a:r>
              <a:rPr lang="ko-KR" altLang="en-US" sz="2400" dirty="0">
                <a:ea typeface="a아시아헤드2" panose="02020600000000000000"/>
              </a:rPr>
              <a:t>태그는 감성 분석을 위한 피처로 의미가 없으므로 제거하는 것이 좋음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6993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5737-A0A5-0A72-6CAA-1D0CF9FB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18B7A0B3-B81F-990C-8871-3021CB8AC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A50CE7-205A-11F8-10BF-755F7DC4DE37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ea typeface="a아시아헤드2"/>
                <a:cs typeface="+mn-lt"/>
              </a:rPr>
              <a:t>2 </a:t>
            </a:r>
            <a:r>
              <a:rPr lang="ko-KR" altLang="en-US" sz="4800" b="1" dirty="0">
                <a:ea typeface="a아시아헤드2"/>
                <a:cs typeface="+mn-lt"/>
              </a:rPr>
              <a:t>지도학습 기반 감성 분석 실습 </a:t>
            </a:r>
            <a:r>
              <a:rPr lang="en-US" altLang="ko-KR" sz="4800" b="1" dirty="0">
                <a:ea typeface="a아시아헤드2"/>
                <a:cs typeface="+mn-lt"/>
              </a:rPr>
              <a:t>– IMDB </a:t>
            </a:r>
            <a:r>
              <a:rPr lang="ko-KR" altLang="en-US" sz="4800" b="1" dirty="0">
                <a:ea typeface="a아시아헤드2"/>
                <a:cs typeface="+mn-lt"/>
              </a:rPr>
              <a:t>영화평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E73BD2-218E-67FE-6C7D-C2DE24501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86" y="1531076"/>
            <a:ext cx="7354326" cy="28960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93A36A-53B6-553B-6E5B-8537C8451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86" y="4827799"/>
            <a:ext cx="7354326" cy="50584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87CB34-4915-115D-BD3F-D69173E3A733}"/>
              </a:ext>
            </a:extLst>
          </p:cNvPr>
          <p:cNvSpPr txBox="1"/>
          <p:nvPr/>
        </p:nvSpPr>
        <p:spPr>
          <a:xfrm>
            <a:off x="7894898" y="1531076"/>
            <a:ext cx="9043273" cy="7448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/>
              <a:t>#2-3 </a:t>
            </a:r>
            <a:r>
              <a:rPr lang="ko-KR" altLang="en-US" sz="2800" b="1" dirty="0"/>
              <a:t>문자열 처리</a:t>
            </a:r>
            <a:r>
              <a:rPr lang="en-US" altLang="ko-KR" sz="2800" b="1" dirty="0"/>
              <a:t>: HTML </a:t>
            </a:r>
            <a:r>
              <a:rPr lang="ko-KR" altLang="en-US" sz="2800" b="1" dirty="0"/>
              <a:t>태그 및 불필요 문자 제거</a:t>
            </a:r>
            <a:endParaRPr lang="en-US" altLang="ko-KR" sz="2800" b="1" dirty="0"/>
          </a:p>
          <a:p>
            <a:pPr>
              <a:buNone/>
            </a:pPr>
            <a:endParaRPr lang="ko-KR" altLang="en-US" b="1" dirty="0"/>
          </a:p>
          <a:p>
            <a:pPr>
              <a:buNone/>
            </a:pPr>
            <a:r>
              <a:rPr lang="en-US" altLang="ko-KR" sz="2400" b="1" dirty="0"/>
              <a:t>2-3-1. </a:t>
            </a:r>
            <a:r>
              <a:rPr lang="en-US" altLang="ko-KR" sz="2400" b="1" dirty="0">
                <a:latin typeface="Courier New" panose="02070309020205020404" pitchFamily="49" charset="0"/>
              </a:rPr>
              <a:t>&lt;</a:t>
            </a:r>
            <a:r>
              <a:rPr lang="en-US" altLang="ko-KR" sz="2400" b="1" dirty="0" err="1">
                <a:latin typeface="Courier New" panose="02070309020205020404" pitchFamily="49" charset="0"/>
              </a:rPr>
              <a:t>br</a:t>
            </a:r>
            <a:r>
              <a:rPr lang="en-US" altLang="ko-KR" sz="2400" b="1" dirty="0">
                <a:latin typeface="Courier New" panose="02070309020205020404" pitchFamily="49" charset="0"/>
              </a:rPr>
              <a:t> /&gt;</a:t>
            </a:r>
            <a:r>
              <a:rPr lang="ko-KR" altLang="en-US" sz="2400" b="1" dirty="0"/>
              <a:t> 태그 제거</a:t>
            </a:r>
          </a:p>
          <a:p>
            <a:r>
              <a:rPr lang="en-US" altLang="ko-KR" sz="2400" dirty="0">
                <a:latin typeface="Courier New" panose="02070309020205020404" pitchFamily="49" charset="0"/>
              </a:rPr>
              <a:t>: &lt;</a:t>
            </a:r>
            <a:r>
              <a:rPr lang="en-US" altLang="ko-KR" sz="2400" dirty="0" err="1">
                <a:latin typeface="Courier New" panose="02070309020205020404" pitchFamily="49" charset="0"/>
              </a:rPr>
              <a:t>br</a:t>
            </a:r>
            <a:r>
              <a:rPr lang="en-US" altLang="ko-KR" sz="2400" dirty="0">
                <a:latin typeface="Courier New" panose="02070309020205020404" pitchFamily="49" charset="0"/>
              </a:rPr>
              <a:t> /&gt;</a:t>
            </a:r>
            <a:r>
              <a:rPr lang="ko-KR" altLang="en-US" sz="2400" dirty="0"/>
              <a:t>를 공백 </a:t>
            </a:r>
            <a:r>
              <a:rPr lang="en-US" altLang="ko-KR" sz="2400" dirty="0">
                <a:latin typeface="Courier New" panose="02070309020205020404" pitchFamily="49" charset="0"/>
              </a:rPr>
              <a:t>" "</a:t>
            </a:r>
            <a:r>
              <a:rPr lang="ko-KR" altLang="en-US" sz="2400" dirty="0"/>
              <a:t>으로 바꾸기</a:t>
            </a:r>
          </a:p>
          <a:p>
            <a:r>
              <a:rPr lang="ko-KR" altLang="en-US" sz="2400" dirty="0"/>
              <a:t>감성 분석에 필요 없는 </a:t>
            </a:r>
            <a:r>
              <a:rPr lang="en-US" altLang="ko-KR" sz="2400" dirty="0"/>
              <a:t>HTML </a:t>
            </a:r>
            <a:r>
              <a:rPr lang="ko-KR" altLang="en-US" sz="2400" dirty="0" err="1"/>
              <a:t>줄바꿈</a:t>
            </a:r>
            <a:r>
              <a:rPr lang="ko-KR" altLang="en-US" sz="2400" dirty="0"/>
              <a:t> 태그 제거로 텍스트를 정리</a:t>
            </a:r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pPr>
              <a:buNone/>
            </a:pPr>
            <a:r>
              <a:rPr lang="en-US" altLang="ko-KR" sz="2400" b="1" dirty="0"/>
              <a:t>2-3-2. </a:t>
            </a:r>
            <a:r>
              <a:rPr lang="ko-KR" altLang="en-US" sz="2400" b="1" dirty="0"/>
              <a:t>숫자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특수문자 제거</a:t>
            </a:r>
            <a:endParaRPr lang="en-US" altLang="ko-KR" sz="2400" b="1" dirty="0"/>
          </a:p>
          <a:p>
            <a:pPr>
              <a:buNone/>
            </a:pPr>
            <a:endParaRPr lang="en-US" altLang="ko-K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숫자</a:t>
            </a:r>
            <a:r>
              <a:rPr lang="en-US" altLang="ko-KR" sz="2400" dirty="0"/>
              <a:t>/</a:t>
            </a:r>
            <a:r>
              <a:rPr lang="ko-KR" altLang="en-US" sz="2400" dirty="0"/>
              <a:t>특수문자 역시 감성 분석을 위한 핵심 피처가 아니라고 보고</a:t>
            </a:r>
            <a:r>
              <a:rPr lang="en-US" altLang="ko-KR" sz="2400" dirty="0"/>
              <a:t>, </a:t>
            </a:r>
            <a:r>
              <a:rPr lang="ko-KR" altLang="en-US" sz="2400" dirty="0"/>
              <a:t>모두 공란으로 변경 </a:t>
            </a:r>
            <a:r>
              <a:rPr lang="ko-KR" altLang="en-US" sz="2400" dirty="0">
                <a:ea typeface="a아시아헤드2" panose="02020600000000000000"/>
              </a:rPr>
              <a:t>→  </a:t>
            </a:r>
            <a:r>
              <a:rPr lang="ko-KR" altLang="en-US" sz="2400" dirty="0"/>
              <a:t>정규 표현식 사용</a:t>
            </a:r>
            <a:endParaRPr lang="en-US" altLang="ko-KR" sz="24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 err="1"/>
              <a:t>파이썬의</a:t>
            </a:r>
            <a:r>
              <a:rPr lang="ko-KR" altLang="en-US" sz="2400" dirty="0"/>
              <a:t> </a:t>
            </a:r>
            <a:r>
              <a:rPr lang="en-US" altLang="ko-KR" sz="2400" dirty="0">
                <a:latin typeface="Courier New" panose="02070309020205020404" pitchFamily="49" charset="0"/>
              </a:rPr>
              <a:t>re</a:t>
            </a:r>
            <a:r>
              <a:rPr lang="ko-KR" altLang="en-US" sz="2400" dirty="0"/>
              <a:t> 모듈을 사용해 </a:t>
            </a:r>
            <a:r>
              <a:rPr lang="ko-KR" altLang="en-US" sz="2400" dirty="0" err="1"/>
              <a:t>정규식</a:t>
            </a:r>
            <a:r>
              <a:rPr lang="ko-KR" altLang="en-US" sz="2400" dirty="0"/>
              <a:t> 기반 치환</a:t>
            </a:r>
            <a:endParaRPr lang="en-US" altLang="ko-KR" sz="2400" dirty="0"/>
          </a:p>
          <a:p>
            <a:endParaRPr lang="en-US" altLang="ko-K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문자열 </a:t>
            </a:r>
            <a:r>
              <a:rPr lang="en-US" altLang="ko-KR" sz="2400" dirty="0">
                <a:latin typeface="Courier New" panose="02070309020205020404" pitchFamily="49" charset="0"/>
              </a:rPr>
              <a:t>x</a:t>
            </a:r>
            <a:r>
              <a:rPr lang="ko-KR" altLang="en-US" sz="2400" dirty="0"/>
              <a:t>에서 영어 대문자</a:t>
            </a:r>
            <a:r>
              <a:rPr lang="en-US" altLang="ko-KR" sz="2400" dirty="0"/>
              <a:t>(A–Z)</a:t>
            </a:r>
            <a:r>
              <a:rPr lang="ko-KR" altLang="en-US" sz="2400" dirty="0"/>
              <a:t>나 소문자</a:t>
            </a:r>
            <a:r>
              <a:rPr lang="en-US" altLang="ko-KR" sz="2400" dirty="0"/>
              <a:t>(a–z)</a:t>
            </a:r>
            <a:r>
              <a:rPr lang="ko-KR" altLang="en-US" sz="2400" dirty="0"/>
              <a:t>가 아닌 모든 문자를 찾아 </a:t>
            </a:r>
            <a:r>
              <a:rPr lang="en-US" altLang="ko-KR" sz="2400" dirty="0">
                <a:latin typeface="Courier New" panose="02070309020205020404" pitchFamily="49" charset="0"/>
              </a:rPr>
              <a:t>" "</a:t>
            </a:r>
            <a:r>
              <a:rPr lang="en-US" altLang="ko-KR" sz="2400" dirty="0"/>
              <a:t>(</a:t>
            </a:r>
            <a:r>
              <a:rPr lang="ko-KR" altLang="en-US" sz="2400" dirty="0"/>
              <a:t>공백</a:t>
            </a:r>
            <a:r>
              <a:rPr lang="en-US" altLang="ko-KR" sz="2400" dirty="0"/>
              <a:t>)</a:t>
            </a:r>
            <a:r>
              <a:rPr lang="ko-KR" altLang="en-US" sz="2400" dirty="0"/>
              <a:t>으로 치환</a:t>
            </a:r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r>
              <a:rPr lang="ko-KR" altLang="en-US" sz="2400" dirty="0">
                <a:ea typeface="a아시아헤드2" panose="02020600000000000000"/>
              </a:rPr>
              <a:t>→ </a:t>
            </a:r>
            <a:r>
              <a:rPr lang="ko-KR" altLang="en-US" sz="2400" dirty="0"/>
              <a:t>이렇게 하면 숫자</a:t>
            </a:r>
            <a:r>
              <a:rPr lang="en-US" altLang="ko-KR" sz="2400" dirty="0"/>
              <a:t>, </a:t>
            </a:r>
            <a:r>
              <a:rPr lang="ko-KR" altLang="en-US" sz="2400" dirty="0"/>
              <a:t>구두점</a:t>
            </a:r>
            <a:r>
              <a:rPr lang="en-US" altLang="ko-KR" sz="2400" dirty="0"/>
              <a:t>, </a:t>
            </a:r>
            <a:r>
              <a:rPr lang="ko-KR" altLang="en-US" sz="2400" dirty="0"/>
              <a:t>특수문자 등이 제거되어 </a:t>
            </a:r>
            <a:endParaRPr lang="en-US" altLang="ko-KR" sz="2400" dirty="0"/>
          </a:p>
          <a:p>
            <a:r>
              <a:rPr lang="en-US" altLang="ko-KR" sz="2400" dirty="0"/>
              <a:t>     </a:t>
            </a:r>
            <a:r>
              <a:rPr lang="ko-KR" altLang="en-US" sz="2400" dirty="0"/>
              <a:t>영어 알파벳 </a:t>
            </a:r>
            <a:r>
              <a:rPr lang="en-US" altLang="ko-KR" sz="2400" dirty="0"/>
              <a:t>+ </a:t>
            </a:r>
            <a:r>
              <a:rPr lang="ko-KR" altLang="en-US" sz="2400" dirty="0"/>
              <a:t>공백 위주의 텍스트로 정리됨</a:t>
            </a:r>
            <a:r>
              <a:rPr lang="en-US" altLang="ko-KR" sz="2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52FF9B-5511-9DFD-4504-3D35DFAEFF7B}"/>
              </a:ext>
            </a:extLst>
          </p:cNvPr>
          <p:cNvSpPr txBox="1"/>
          <p:nvPr/>
        </p:nvSpPr>
        <p:spPr>
          <a:xfrm>
            <a:off x="270286" y="4505372"/>
            <a:ext cx="920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#2-4 </a:t>
            </a:r>
            <a:r>
              <a:rPr lang="ko-KR" altLang="en-US" b="1" dirty="0"/>
              <a:t>학습용 데이터</a:t>
            </a:r>
            <a:r>
              <a:rPr lang="en-US" altLang="ko-KR" b="1" dirty="0"/>
              <a:t>/</a:t>
            </a:r>
            <a:r>
              <a:rPr lang="ko-KR" altLang="en-US" b="1" dirty="0"/>
              <a:t>타깃 분리 및 </a:t>
            </a:r>
            <a:r>
              <a:rPr lang="en-US" altLang="ko-KR" b="1" dirty="0"/>
              <a:t>train/test </a:t>
            </a:r>
            <a:r>
              <a:rPr lang="ko-KR" altLang="en-US" b="1" dirty="0"/>
              <a:t>분할</a:t>
            </a:r>
          </a:p>
        </p:txBody>
      </p:sp>
    </p:spTree>
    <p:extLst>
      <p:ext uri="{BB962C8B-B14F-4D97-AF65-F5344CB8AC3E}">
        <p14:creationId xmlns:p14="http://schemas.microsoft.com/office/powerpoint/2010/main" val="1654884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7AF1-078F-FEFD-7B52-160649B8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28AD9B0C-2AC0-F4F1-D67B-A5015FD7E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1BE518-7408-38A3-E061-C99A79002511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ea typeface="a아시아헤드2"/>
                <a:cs typeface="+mn-lt"/>
              </a:rPr>
              <a:t>2 </a:t>
            </a:r>
            <a:r>
              <a:rPr lang="ko-KR" altLang="en-US" sz="4800" b="1" dirty="0">
                <a:ea typeface="a아시아헤드2"/>
                <a:cs typeface="+mn-lt"/>
              </a:rPr>
              <a:t>지도학습 기반 감성 분석 실습 </a:t>
            </a:r>
            <a:r>
              <a:rPr lang="en-US" altLang="ko-KR" sz="4800" b="1" dirty="0">
                <a:ea typeface="a아시아헤드2"/>
                <a:cs typeface="+mn-lt"/>
              </a:rPr>
              <a:t>– IMDB </a:t>
            </a:r>
            <a:r>
              <a:rPr lang="ko-KR" altLang="en-US" sz="4800" b="1" dirty="0">
                <a:ea typeface="a아시아헤드2"/>
                <a:cs typeface="+mn-lt"/>
              </a:rPr>
              <a:t>영화평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02FA91-6767-D20D-2C90-8FFD86B37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5" y="1634578"/>
            <a:ext cx="9993120" cy="7830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544E1-1536-896C-E8A1-BE0606AB9D72}"/>
              </a:ext>
            </a:extLst>
          </p:cNvPr>
          <p:cNvSpPr txBox="1"/>
          <p:nvPr/>
        </p:nvSpPr>
        <p:spPr>
          <a:xfrm>
            <a:off x="10323029" y="1634578"/>
            <a:ext cx="6945795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#2-5 </a:t>
            </a:r>
            <a:r>
              <a:rPr lang="ko-KR" altLang="en-US" sz="2800" b="1" dirty="0">
                <a:ea typeface="a아시아헤드2" panose="02020600000000000000"/>
              </a:rPr>
              <a:t>텍스트 벡터화 </a:t>
            </a:r>
            <a:r>
              <a:rPr lang="en-US" altLang="ko-KR" sz="2800" b="1" dirty="0">
                <a:ea typeface="a아시아헤드2" panose="02020600000000000000"/>
              </a:rPr>
              <a:t>+ ML </a:t>
            </a:r>
            <a:r>
              <a:rPr lang="ko-KR" altLang="en-US" sz="2800" b="1" dirty="0">
                <a:ea typeface="a아시아헤드2" panose="02020600000000000000"/>
              </a:rPr>
              <a:t>분류</a:t>
            </a:r>
            <a:r>
              <a:rPr lang="en-US" altLang="ko-KR" sz="2800" b="1" dirty="0">
                <a:ea typeface="a아시아헤드2" panose="02020600000000000000"/>
              </a:rPr>
              <a:t>: Pipeline </a:t>
            </a:r>
            <a:r>
              <a:rPr lang="ko-KR" altLang="en-US" sz="2800" b="1" dirty="0">
                <a:ea typeface="a아시아헤드2" panose="02020600000000000000"/>
              </a:rPr>
              <a:t>활용</a:t>
            </a:r>
          </a:p>
          <a:p>
            <a:pPr>
              <a:buNone/>
            </a:pP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 err="1">
                <a:ea typeface="a아시아헤드2" panose="02020600000000000000"/>
              </a:rPr>
              <a:t>전처리된</a:t>
            </a:r>
            <a:r>
              <a:rPr lang="ko-KR" altLang="en-US" sz="2200" dirty="0">
                <a:ea typeface="a아시아헤드2" panose="02020600000000000000"/>
              </a:rPr>
              <a:t> 리뷰 텍스트를 피처 벡터화하고</a:t>
            </a:r>
            <a:r>
              <a:rPr lang="en-US" altLang="ko-KR" sz="2200" dirty="0">
                <a:ea typeface="a아시아헤드2" panose="02020600000000000000"/>
              </a:rPr>
              <a:t>,</a:t>
            </a:r>
            <a:br>
              <a:rPr lang="en-US" altLang="ko-KR" sz="2200" dirty="0">
                <a:ea typeface="a아시아헤드2" panose="02020600000000000000"/>
              </a:rPr>
            </a:br>
            <a:r>
              <a:rPr lang="ko-KR" altLang="en-US" sz="2200" dirty="0">
                <a:ea typeface="a아시아헤드2" panose="02020600000000000000"/>
              </a:rPr>
              <a:t>그 벡터 기반 </a:t>
            </a:r>
            <a:r>
              <a:rPr lang="ko-KR" altLang="en-US" sz="2200" dirty="0" err="1">
                <a:ea typeface="a아시아헤드2" panose="02020600000000000000"/>
              </a:rPr>
              <a:t>머신러닝</a:t>
            </a:r>
            <a:r>
              <a:rPr lang="ko-KR" altLang="en-US" sz="2200" dirty="0">
                <a:ea typeface="a아시아헤드2" panose="02020600000000000000"/>
              </a:rPr>
              <a:t> 분류기를 학습해 성능 측정</a:t>
            </a:r>
            <a:endParaRPr lang="en-US" altLang="ko-KR" sz="2200" dirty="0">
              <a:ea typeface="a아시아헤드2" panose="02020600000000000000"/>
            </a:endParaRPr>
          </a:p>
          <a:p>
            <a:pPr>
              <a:buNone/>
            </a:pPr>
            <a:endParaRPr lang="en-US" altLang="ko-KR" sz="22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2-5-1. Pipeline </a:t>
            </a:r>
            <a:r>
              <a:rPr lang="ko-KR" altLang="en-US" sz="2400" b="1" dirty="0">
                <a:ea typeface="a아시아헤드2" panose="02020600000000000000"/>
              </a:rPr>
              <a:t>구조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en-US" altLang="ko-KR" sz="2400" b="1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 err="1">
                <a:ea typeface="a아시아헤드2" panose="02020600000000000000"/>
              </a:rPr>
              <a:t>CountVectorizer</a:t>
            </a:r>
            <a:r>
              <a:rPr lang="en-US" altLang="ko-KR" sz="2400" dirty="0">
                <a:ea typeface="a아시아헤드2" panose="02020600000000000000"/>
              </a:rPr>
              <a:t> ,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 err="1">
                <a:ea typeface="a아시아헤드2" panose="02020600000000000000"/>
              </a:rPr>
              <a:t>TfidfVectorizer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ko-KR" altLang="en-US" sz="2400" dirty="0">
                <a:ea typeface="a아시아헤드2" panose="02020600000000000000"/>
              </a:rPr>
              <a:t>→ 텍스트를 수치 벡터로 변환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 err="1">
                <a:ea typeface="a아시아헤드2" panose="02020600000000000000"/>
              </a:rPr>
              <a:t>LogisticRegression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ko-KR" altLang="en-US" sz="2400" dirty="0">
                <a:ea typeface="a아시아헤드2" panose="02020600000000000000"/>
              </a:rPr>
              <a:t>→ 벡터를 입력으로 받아 감성을 이진 분류</a:t>
            </a:r>
            <a:endParaRPr lang="en-US" altLang="ko-KR" sz="2400" dirty="0">
              <a:ea typeface="a아시아헤드2" panose="02020600000000000000"/>
            </a:endParaRPr>
          </a:p>
          <a:p>
            <a:pPr lvl="1"/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2-5-2. </a:t>
            </a:r>
            <a:r>
              <a:rPr lang="en-US" altLang="ko-KR" sz="2400" b="1" dirty="0" err="1">
                <a:ea typeface="a아시아헤드2" panose="02020600000000000000"/>
              </a:rPr>
              <a:t>CountVectorizer</a:t>
            </a:r>
            <a:r>
              <a:rPr lang="en-US" altLang="ko-KR" sz="2400" b="1" dirty="0">
                <a:ea typeface="a아시아헤드2" panose="02020600000000000000"/>
              </a:rPr>
              <a:t> </a:t>
            </a:r>
            <a:r>
              <a:rPr lang="ko-KR" altLang="en-US" sz="2400" b="1" dirty="0">
                <a:ea typeface="a아시아헤드2" panose="02020600000000000000"/>
              </a:rPr>
              <a:t>기반 성능 측정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400" b="1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 err="1">
                <a:ea typeface="a아시아헤드2" panose="02020600000000000000"/>
              </a:rPr>
              <a:t>CountVectorizer</a:t>
            </a:r>
            <a:r>
              <a:rPr lang="ko-KR" altLang="en-US" sz="2400" dirty="0">
                <a:ea typeface="a아시아헤드2" panose="02020600000000000000"/>
              </a:rPr>
              <a:t>로 단어 빈도 기반 피처 벡터화 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 err="1">
                <a:ea typeface="a아시아헤드2" panose="02020600000000000000"/>
              </a:rPr>
              <a:t>LogisticRegression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분류기에 입력해 학습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평가 지표</a:t>
            </a:r>
            <a:r>
              <a:rPr lang="en-US" altLang="ko-KR" sz="2400" dirty="0">
                <a:ea typeface="a아시아헤드2" panose="0202060000000000000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정확도</a:t>
            </a:r>
            <a:r>
              <a:rPr lang="en-US" altLang="ko-KR" sz="2400" dirty="0">
                <a:ea typeface="a아시아헤드2" panose="02020600000000000000"/>
              </a:rPr>
              <a:t>(Accuracy)</a:t>
            </a:r>
            <a:endParaRPr lang="ko-KR" altLang="en-US" sz="24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a아시아헤드2" panose="02020600000000000000"/>
              </a:rPr>
              <a:t>ROC-AUC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endParaRPr lang="en-US" altLang="ko-KR" sz="2400" dirty="0">
              <a:ea typeface="a아시아헤드2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782788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1186-CAEF-723D-3AE2-C66F31DD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4D720ABD-F03D-AEF2-8A0D-1C0C08024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D41E26-6BD7-8252-A03A-F79CCC98864E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ea typeface="a아시아헤드2"/>
                <a:cs typeface="+mn-lt"/>
              </a:rPr>
              <a:t>2 </a:t>
            </a:r>
            <a:r>
              <a:rPr lang="ko-KR" altLang="en-US" sz="4800" b="1" dirty="0">
                <a:ea typeface="a아시아헤드2"/>
                <a:cs typeface="+mn-lt"/>
              </a:rPr>
              <a:t>지도학습 기반 감성 분석 실습 </a:t>
            </a:r>
            <a:r>
              <a:rPr lang="en-US" altLang="ko-KR" sz="4800" b="1" dirty="0">
                <a:ea typeface="a아시아헤드2"/>
                <a:cs typeface="+mn-lt"/>
              </a:rPr>
              <a:t>– IMDB </a:t>
            </a:r>
            <a:r>
              <a:rPr lang="ko-KR" altLang="en-US" sz="4800" b="1" dirty="0">
                <a:ea typeface="a아시아헤드2"/>
                <a:cs typeface="+mn-lt"/>
              </a:rPr>
              <a:t>영화평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F54D98-D1BA-8E4A-AC69-FCCAFEB1E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4" y="1661037"/>
            <a:ext cx="9916909" cy="56586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3B3934-C397-B27F-673D-887467DE788A}"/>
              </a:ext>
            </a:extLst>
          </p:cNvPr>
          <p:cNvSpPr txBox="1"/>
          <p:nvPr/>
        </p:nvSpPr>
        <p:spPr>
          <a:xfrm>
            <a:off x="7981497" y="5111608"/>
            <a:ext cx="920205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#2-6 TF-IDF </a:t>
            </a:r>
            <a:r>
              <a:rPr lang="ko-KR" altLang="en-US" sz="2800" b="1" dirty="0">
                <a:ea typeface="a아시아헤드2" panose="02020600000000000000"/>
              </a:rPr>
              <a:t>벡터화 적용 및 성능 비교</a:t>
            </a:r>
          </a:p>
          <a:p>
            <a:r>
              <a:rPr lang="en-US" altLang="ko-KR" sz="2400" dirty="0">
                <a:ea typeface="a아시아헤드2" panose="02020600000000000000"/>
              </a:rPr>
              <a:t>:</a:t>
            </a:r>
            <a:r>
              <a:rPr lang="ko-KR" altLang="en-US" sz="2400" dirty="0">
                <a:ea typeface="a아시아헤드2" panose="02020600000000000000"/>
              </a:rPr>
              <a:t> 같은 구조에서 벡터화 부분만 </a:t>
            </a:r>
            <a:r>
              <a:rPr lang="en-US" altLang="ko-KR" sz="2400" dirty="0" err="1">
                <a:ea typeface="a아시아헤드2" panose="02020600000000000000"/>
              </a:rPr>
              <a:t>TfidfVectorizer</a:t>
            </a:r>
            <a:r>
              <a:rPr lang="ko-KR" altLang="en-US" sz="2400" dirty="0">
                <a:ea typeface="a아시아헤드2" panose="02020600000000000000"/>
              </a:rPr>
              <a:t>로 변경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(Pipeline</a:t>
            </a:r>
            <a:r>
              <a:rPr lang="ko-KR" altLang="en-US" sz="2400" dirty="0">
                <a:ea typeface="a아시아헤드2" panose="02020600000000000000"/>
              </a:rPr>
              <a:t>에서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CountVectorizer</a:t>
            </a:r>
            <a:r>
              <a:rPr lang="ko-KR" altLang="en-US" sz="2400" dirty="0">
                <a:ea typeface="a아시아헤드2" panose="02020600000000000000"/>
              </a:rPr>
              <a:t> →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TfidfVectorizer</a:t>
            </a:r>
            <a:r>
              <a:rPr lang="ko-KR" altLang="en-US" sz="2400" dirty="0">
                <a:ea typeface="a아시아헤드2" panose="02020600000000000000"/>
              </a:rPr>
              <a:t>로 교체</a:t>
            </a:r>
            <a:r>
              <a:rPr lang="en-US" altLang="ko-KR" sz="2400" dirty="0">
                <a:ea typeface="a아시아헤드2" panose="02020600000000000000"/>
              </a:rPr>
              <a:t>)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분류기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여전히 </a:t>
            </a:r>
            <a:r>
              <a:rPr lang="en-US" altLang="ko-KR" sz="2400" dirty="0" err="1">
                <a:ea typeface="a아시아헤드2" panose="02020600000000000000"/>
              </a:rPr>
              <a:t>LogisticRegression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평가 방법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동일하게 정확도와 </a:t>
            </a:r>
            <a:r>
              <a:rPr lang="en-US" altLang="ko-KR" sz="2400" dirty="0">
                <a:ea typeface="a아시아헤드2" panose="02020600000000000000"/>
              </a:rPr>
              <a:t>ROC-AUC</a:t>
            </a:r>
            <a:r>
              <a:rPr lang="ko-KR" altLang="en-US" sz="2400" dirty="0">
                <a:ea typeface="a아시아헤드2" panose="02020600000000000000"/>
              </a:rPr>
              <a:t> 측정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endParaRPr lang="ko-KR" altLang="en-US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2-6-1. </a:t>
            </a:r>
            <a:r>
              <a:rPr lang="ko-KR" altLang="en-US" sz="2400" b="1" dirty="0">
                <a:ea typeface="a아시아헤드2" panose="02020600000000000000"/>
              </a:rPr>
              <a:t>결과 비교</a:t>
            </a:r>
          </a:p>
          <a:p>
            <a:r>
              <a:rPr lang="en-US" altLang="ko-KR" sz="2400" dirty="0">
                <a:ea typeface="a아시아헤드2" panose="02020600000000000000"/>
              </a:rPr>
              <a:t>: TF-IDF </a:t>
            </a:r>
            <a:r>
              <a:rPr lang="ko-KR" altLang="en-US" sz="2400" dirty="0">
                <a:ea typeface="a아시아헤드2" panose="02020600000000000000"/>
              </a:rPr>
              <a:t>기반 피처 벡터화가 </a:t>
            </a:r>
            <a:r>
              <a:rPr lang="en-US" altLang="ko-KR" sz="2400" dirty="0">
                <a:ea typeface="a아시아헤드2" panose="02020600000000000000"/>
              </a:rPr>
              <a:t>Count </a:t>
            </a:r>
            <a:r>
              <a:rPr lang="ko-KR" altLang="en-US" sz="2400" dirty="0">
                <a:ea typeface="a아시아헤드2" panose="02020600000000000000"/>
              </a:rPr>
              <a:t>기반보다 예측 성능이 조금 더 높게 나타남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r>
              <a:rPr lang="ko-KR" altLang="en-US" sz="2400" dirty="0">
                <a:ea typeface="a아시아헤드2" panose="02020600000000000000"/>
              </a:rPr>
              <a:t>→  즉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단순한 단어 등장 횟수</a:t>
            </a:r>
            <a:r>
              <a:rPr lang="en-US" altLang="ko-KR" sz="2400" dirty="0">
                <a:ea typeface="a아시아헤드2" panose="02020600000000000000"/>
              </a:rPr>
              <a:t>(Count)</a:t>
            </a:r>
            <a:r>
              <a:rPr lang="ko-KR" altLang="en-US" sz="2400" dirty="0">
                <a:ea typeface="a아시아헤드2" panose="02020600000000000000"/>
              </a:rPr>
              <a:t>보다 단어의 상대적 중요도까지 고려하는 </a:t>
            </a:r>
            <a:r>
              <a:rPr lang="en-US" altLang="ko-KR" sz="2400" dirty="0">
                <a:ea typeface="a아시아헤드2" panose="02020600000000000000"/>
              </a:rPr>
              <a:t>TF-IDF </a:t>
            </a:r>
            <a:r>
              <a:rPr lang="ko-KR" altLang="en-US" sz="2400" dirty="0">
                <a:ea typeface="a아시아헤드2" panose="02020600000000000000"/>
              </a:rPr>
              <a:t>방식이 감성 분석에 더 적합함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1958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1BB6-21DA-7EE2-FAF5-6D984CB8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5830BB06-ED05-10F9-7452-CF0592F3D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80FFE6-B267-4FF6-CA52-0DC8BB5352D9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3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ko-KR" altLang="en-US" sz="4800" b="1" dirty="0">
                <a:ea typeface="a아시아헤드2"/>
                <a:cs typeface="+mn-lt"/>
              </a:rPr>
              <a:t>비지도학습 기반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20144-47A8-7F3B-7B3F-B6E1D44A1B3E}"/>
              </a:ext>
            </a:extLst>
          </p:cNvPr>
          <p:cNvSpPr txBox="1"/>
          <p:nvPr/>
        </p:nvSpPr>
        <p:spPr>
          <a:xfrm>
            <a:off x="7378701" y="1843295"/>
            <a:ext cx="98016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ea typeface="a아시아헤드2" panose="02020600000000000000"/>
              </a:rPr>
              <a:t>#3-2. Lexicon(</a:t>
            </a:r>
            <a:r>
              <a:rPr lang="ko-KR" altLang="en-US" sz="2800" b="1" dirty="0">
                <a:ea typeface="a아시아헤드2" panose="02020600000000000000"/>
              </a:rPr>
              <a:t>감성 사전</a:t>
            </a:r>
            <a:r>
              <a:rPr lang="en-US" altLang="ko-KR" sz="2800" b="1" dirty="0">
                <a:ea typeface="a아시아헤드2" panose="02020600000000000000"/>
              </a:rPr>
              <a:t>)</a:t>
            </a:r>
            <a:r>
              <a:rPr lang="ko-KR" altLang="en-US" sz="2800" b="1" dirty="0">
                <a:ea typeface="a아시아헤드2" panose="02020600000000000000"/>
              </a:rPr>
              <a:t>의 개념</a:t>
            </a:r>
            <a:endParaRPr lang="en-US" altLang="ko-KR" sz="2800" b="1" dirty="0">
              <a:ea typeface="a아시아헤드2" panose="02020600000000000000"/>
            </a:endParaRPr>
          </a:p>
          <a:p>
            <a:endParaRPr lang="ko-KR" altLang="en-US" sz="2800" b="1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3-2-1 </a:t>
            </a:r>
            <a:r>
              <a:rPr lang="ko-KR" altLang="en-US" sz="2400" b="1" dirty="0">
                <a:ea typeface="a아시아헤드2" panose="02020600000000000000"/>
              </a:rPr>
              <a:t>감성 사전의 구성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각 단어에 대해 긍정</a:t>
            </a:r>
            <a:r>
              <a:rPr lang="en-US" altLang="ko-KR" sz="2400" dirty="0">
                <a:ea typeface="a아시아헤드2" panose="02020600000000000000"/>
              </a:rPr>
              <a:t>(Positive) </a:t>
            </a:r>
            <a:r>
              <a:rPr lang="ko-KR" altLang="en-US" sz="2400" dirty="0">
                <a:ea typeface="a아시아헤드2" panose="02020600000000000000"/>
              </a:rPr>
              <a:t>감성 또는 부정</a:t>
            </a:r>
            <a:r>
              <a:rPr lang="en-US" altLang="ko-KR" sz="2400" dirty="0">
                <a:ea typeface="a아시아헤드2" panose="02020600000000000000"/>
              </a:rPr>
              <a:t>(Negative) </a:t>
            </a:r>
            <a:r>
              <a:rPr lang="ko-KR" altLang="en-US" sz="2400" dirty="0">
                <a:ea typeface="a아시아헤드2" panose="02020600000000000000"/>
              </a:rPr>
              <a:t>감성의 정도를 나타내는 수치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감성 지수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를 가짐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3-2-2 </a:t>
            </a:r>
            <a:r>
              <a:rPr lang="ko-KR" altLang="en-US" sz="2400" b="1" dirty="0">
                <a:ea typeface="a아시아헤드2" panose="02020600000000000000"/>
              </a:rPr>
              <a:t>감성 지수 결정 기준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단어 자체뿐 아니라 단어의 위치 </a:t>
            </a:r>
            <a:r>
              <a:rPr lang="en-US" altLang="ko-KR" sz="2400" dirty="0">
                <a:ea typeface="a아시아헤드2" panose="02020600000000000000"/>
              </a:rPr>
              <a:t>/ </a:t>
            </a:r>
            <a:r>
              <a:rPr lang="ko-KR" altLang="en-US" sz="2400" dirty="0">
                <a:ea typeface="a아시아헤드2" panose="02020600000000000000"/>
              </a:rPr>
              <a:t>주변 단어 </a:t>
            </a:r>
            <a:r>
              <a:rPr lang="en-US" altLang="ko-KR" sz="2400" dirty="0">
                <a:ea typeface="a아시아헤드2" panose="02020600000000000000"/>
              </a:rPr>
              <a:t>/ </a:t>
            </a:r>
            <a:r>
              <a:rPr lang="ko-KR" altLang="en-US" sz="2400" dirty="0">
                <a:ea typeface="a아시아헤드2" panose="02020600000000000000"/>
              </a:rPr>
              <a:t>문맥</a:t>
            </a:r>
            <a:r>
              <a:rPr lang="en-US" altLang="ko-KR" sz="2400" dirty="0">
                <a:ea typeface="a아시아헤드2" panose="02020600000000000000"/>
              </a:rPr>
              <a:t> / </a:t>
            </a:r>
            <a:r>
              <a:rPr lang="ko-KR" altLang="en-US" sz="2400" dirty="0">
                <a:ea typeface="a아시아헤드2" panose="02020600000000000000"/>
              </a:rPr>
              <a:t>품사</a:t>
            </a:r>
            <a:r>
              <a:rPr lang="en-US" altLang="ko-KR" sz="2400" dirty="0">
                <a:ea typeface="a아시아헤드2" panose="02020600000000000000"/>
              </a:rPr>
              <a:t>(POS) </a:t>
            </a:r>
            <a:r>
              <a:rPr lang="ko-KR" altLang="en-US" sz="2400" dirty="0">
                <a:ea typeface="a아시아헤드2" panose="02020600000000000000"/>
              </a:rPr>
              <a:t>등을 참고해서 감성 지수가 </a:t>
            </a:r>
            <a:r>
              <a:rPr lang="ko-KR" altLang="en-US" sz="2400" dirty="0" err="1">
                <a:ea typeface="a아시아헤드2" panose="02020600000000000000"/>
              </a:rPr>
              <a:t>정해짐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3-2-3 NLTK</a:t>
            </a:r>
            <a:r>
              <a:rPr lang="ko-KR" altLang="en-US" sz="2400" b="1" dirty="0">
                <a:ea typeface="a아시아헤드2" panose="02020600000000000000"/>
              </a:rPr>
              <a:t>의 감성 사전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: </a:t>
            </a:r>
            <a:r>
              <a:rPr lang="en-US" altLang="ko-KR" sz="2400" dirty="0">
                <a:ea typeface="a아시아헤드2" panose="02020600000000000000"/>
              </a:rPr>
              <a:t>NLTK</a:t>
            </a:r>
            <a:r>
              <a:rPr lang="ko-KR" altLang="en-US" sz="2400" dirty="0">
                <a:ea typeface="a아시아헤드2" panose="02020600000000000000"/>
              </a:rPr>
              <a:t>는 여러 서브 모듈을 가진 패키지이며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 err="1">
                <a:ea typeface="a아시아헤드2" panose="02020600000000000000"/>
              </a:rPr>
              <a:t>그중에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Lexicon(</a:t>
            </a:r>
            <a:r>
              <a:rPr lang="ko-KR" altLang="en-US" sz="2400" dirty="0">
                <a:ea typeface="a아시아헤드2" panose="02020600000000000000"/>
              </a:rPr>
              <a:t>감성 사전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 모듈도 포함</a:t>
            </a:r>
            <a:r>
              <a:rPr lang="en-US" altLang="ko-KR" sz="2400" dirty="0">
                <a:ea typeface="a아시아헤드2" panose="02020600000000000000"/>
              </a:rPr>
              <a:t>. </a:t>
            </a:r>
            <a:r>
              <a:rPr lang="ko-KR" altLang="en-US" sz="2400" dirty="0">
                <a:ea typeface="a아시아헤드2" panose="02020600000000000000"/>
              </a:rPr>
              <a:t>이를 통해 감성 단어와 감성 점수 정보를 제공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BEC11-9345-4124-2A75-FFB3342DCA6C}"/>
              </a:ext>
            </a:extLst>
          </p:cNvPr>
          <p:cNvSpPr txBox="1"/>
          <p:nvPr/>
        </p:nvSpPr>
        <p:spPr>
          <a:xfrm>
            <a:off x="349251" y="1843295"/>
            <a:ext cx="702945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#3-1 </a:t>
            </a:r>
            <a:r>
              <a:rPr lang="ko-KR" altLang="en-US" sz="2800" b="1" dirty="0">
                <a:ea typeface="a아시아헤드2" panose="02020600000000000000"/>
              </a:rPr>
              <a:t>비지도학습 기반 감성 분석 개요</a:t>
            </a:r>
            <a:endParaRPr lang="en-US" altLang="ko-KR" sz="2800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레이블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정답</a:t>
            </a:r>
            <a:r>
              <a:rPr lang="en-US" altLang="ko-KR" sz="2400" dirty="0">
                <a:ea typeface="a아시아헤드2" panose="02020600000000000000"/>
              </a:rPr>
              <a:t>) </a:t>
            </a:r>
            <a:r>
              <a:rPr lang="ko-KR" altLang="en-US" sz="2400" dirty="0">
                <a:ea typeface="a아시아헤드2" panose="02020600000000000000"/>
              </a:rPr>
              <a:t>없는 텍스트 데이터에서 감성을 파악하기 위해 </a:t>
            </a:r>
            <a:r>
              <a:rPr lang="en-US" altLang="ko-KR" sz="2400" dirty="0">
                <a:ea typeface="a아시아헤드2" panose="02020600000000000000"/>
              </a:rPr>
              <a:t>Lexicon(</a:t>
            </a:r>
            <a:r>
              <a:rPr lang="ko-KR" altLang="en-US" sz="2400" dirty="0">
                <a:ea typeface="a아시아헤드2" panose="02020600000000000000"/>
              </a:rPr>
              <a:t>감성 사전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을 사용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pPr>
              <a:buNone/>
            </a:pP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3-1-1. </a:t>
            </a:r>
            <a:r>
              <a:rPr lang="ko-KR" altLang="en-US" sz="2400" b="1" dirty="0">
                <a:ea typeface="a아시아헤드2" panose="02020600000000000000"/>
              </a:rPr>
              <a:t>지도 </a:t>
            </a:r>
            <a:r>
              <a:rPr lang="en-US" altLang="ko-KR" sz="2400" b="1" dirty="0">
                <a:ea typeface="a아시아헤드2" panose="02020600000000000000"/>
              </a:rPr>
              <a:t>vs </a:t>
            </a:r>
            <a:r>
              <a:rPr lang="ko-KR" altLang="en-US" sz="2400" b="1" dirty="0">
                <a:ea typeface="a아시아헤드2" panose="02020600000000000000"/>
              </a:rPr>
              <a:t>비지도</a:t>
            </a:r>
            <a:endParaRPr lang="en-US" altLang="ko-KR" sz="2400" b="1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지도 감성 분석은 데이터 세트에 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sentiment</a:t>
            </a:r>
            <a:r>
              <a:rPr lang="ko-KR" altLang="en-US" sz="2400" dirty="0">
                <a:ea typeface="a아시아헤드2" panose="02020600000000000000"/>
              </a:rPr>
              <a:t> 같은 레이블 값이 있음 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ko-KR" altLang="en-US" sz="2400" dirty="0">
                <a:ea typeface="a아시아헤드2" panose="02020600000000000000"/>
              </a:rPr>
              <a:t>→ 지도학습으로 분류 모델 학습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하지만 실제 감성 분석용 데이터는 레이블이 없는 경우가 많음 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ko-KR" altLang="en-US" sz="2400" dirty="0">
                <a:ea typeface="a아시아헤드2" panose="02020600000000000000"/>
              </a:rPr>
              <a:t>→ 이럴 때 </a:t>
            </a:r>
            <a:r>
              <a:rPr lang="en-US" altLang="ko-KR" sz="2400" dirty="0">
                <a:ea typeface="a아시아헤드2" panose="02020600000000000000"/>
              </a:rPr>
              <a:t>Lexicon </a:t>
            </a:r>
            <a:r>
              <a:rPr lang="ko-KR" altLang="en-US" sz="2400" dirty="0">
                <a:ea typeface="a아시아헤드2" panose="02020600000000000000"/>
              </a:rPr>
              <a:t>기반 비지도 분석이 유용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* </a:t>
            </a:r>
            <a:r>
              <a:rPr lang="ko-KR" altLang="en-US" sz="2400" dirty="0">
                <a:ea typeface="a아시아헤드2" panose="02020600000000000000"/>
              </a:rPr>
              <a:t>언어 지원 문제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영어용 </a:t>
            </a:r>
            <a:r>
              <a:rPr lang="en-US" altLang="ko-KR" sz="2400" dirty="0">
                <a:ea typeface="a아시아헤드2" panose="02020600000000000000"/>
              </a:rPr>
              <a:t>Lexicon</a:t>
            </a:r>
            <a:r>
              <a:rPr lang="ko-KR" altLang="en-US" sz="2400" dirty="0">
                <a:ea typeface="a아시아헤드2" panose="02020600000000000000"/>
              </a:rPr>
              <a:t>은 다양하지만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한글을 지원하는 감성 사전은 거의 없음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9078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33BAA-DACC-C9B9-D105-FDD48EB8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3BE3DD50-1991-ED91-D340-5311F923B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378E35-B393-3393-9E4E-32247FBAEDB0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3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ko-KR" altLang="en-US" sz="4800" b="1" dirty="0">
                <a:ea typeface="a아시아헤드2"/>
                <a:cs typeface="+mn-lt"/>
              </a:rPr>
              <a:t>비지도학습 기반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C2F2C-C9B7-CDC4-5D5B-EC3FAC0B8F4B}"/>
              </a:ext>
            </a:extLst>
          </p:cNvPr>
          <p:cNvSpPr txBox="1"/>
          <p:nvPr/>
        </p:nvSpPr>
        <p:spPr>
          <a:xfrm>
            <a:off x="282122" y="1527508"/>
            <a:ext cx="7413625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#3-3. WordNet : </a:t>
            </a:r>
            <a:r>
              <a:rPr lang="ko-KR" altLang="en-US" sz="2400" b="1" dirty="0" err="1">
                <a:ea typeface="a아시아헤드2" panose="02020600000000000000"/>
              </a:rPr>
              <a:t>시맨틱</a:t>
            </a:r>
            <a:r>
              <a:rPr lang="ko-KR" altLang="en-US" sz="2400" b="1" dirty="0">
                <a:ea typeface="a아시아헤드2" panose="02020600000000000000"/>
              </a:rPr>
              <a:t> 기반 영어 어휘 사전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000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3-3-1. WordNet</a:t>
            </a:r>
            <a:r>
              <a:rPr lang="ko-KR" altLang="en-US" sz="2200" b="1" dirty="0">
                <a:ea typeface="a아시아헤드2" panose="02020600000000000000"/>
              </a:rPr>
              <a:t>이란</a:t>
            </a:r>
            <a:r>
              <a:rPr lang="en-US" altLang="ko-KR" sz="2200" b="1" dirty="0">
                <a:ea typeface="a아시아헤드2" panose="02020600000000000000"/>
              </a:rPr>
              <a:t>?</a:t>
            </a:r>
          </a:p>
          <a:p>
            <a:pPr>
              <a:buNone/>
            </a:pPr>
            <a:endParaRPr lang="en-US" altLang="ko-KR" sz="2200" b="1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NLTK</a:t>
            </a:r>
            <a:r>
              <a:rPr lang="ko-KR" altLang="en-US" sz="2200" dirty="0">
                <a:ea typeface="a아시아헤드2" panose="02020600000000000000"/>
              </a:rPr>
              <a:t>에서 제공하는 </a:t>
            </a:r>
            <a:r>
              <a:rPr lang="en-US" altLang="ko-KR" sz="2200" dirty="0">
                <a:ea typeface="a아시아헤드2" panose="02020600000000000000"/>
              </a:rPr>
              <a:t>WordNet </a:t>
            </a:r>
            <a:r>
              <a:rPr lang="ko-KR" altLang="en-US" sz="2200" dirty="0">
                <a:ea typeface="a아시아헤드2" panose="02020600000000000000"/>
              </a:rPr>
              <a:t>모듈은 방대한 영어 어휘 사전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단순한 “뜻 풀이” 수준의 사전이 아니라 </a:t>
            </a:r>
            <a:r>
              <a:rPr lang="ko-KR" altLang="en-US" sz="2200" dirty="0" err="1">
                <a:ea typeface="a아시아헤드2" panose="02020600000000000000"/>
              </a:rPr>
              <a:t>시맨틱</a:t>
            </a:r>
            <a:r>
              <a:rPr lang="ko-KR" altLang="en-US" sz="2200" dirty="0">
                <a:ea typeface="a아시아헤드2" panose="02020600000000000000"/>
              </a:rPr>
              <a:t> 분석 제공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r>
              <a:rPr lang="en-US" altLang="ko-KR" sz="2200" dirty="0">
                <a:ea typeface="a아시아헤드2" panose="02020600000000000000"/>
              </a:rPr>
              <a:t>  </a:t>
            </a: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3-3-2. </a:t>
            </a:r>
            <a:r>
              <a:rPr lang="ko-KR" altLang="en-US" sz="2200" b="1" dirty="0" err="1">
                <a:ea typeface="a아시아헤드2" panose="02020600000000000000"/>
              </a:rPr>
              <a:t>시맨틱의</a:t>
            </a:r>
            <a:r>
              <a:rPr lang="ko-KR" altLang="en-US" sz="2200" b="1" dirty="0">
                <a:ea typeface="a아시아헤드2" panose="02020600000000000000"/>
              </a:rPr>
              <a:t> 예시</a:t>
            </a:r>
          </a:p>
          <a:p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같은 단어</a:t>
            </a:r>
            <a:r>
              <a:rPr lang="en-US" altLang="ko-KR" sz="2200" dirty="0">
                <a:ea typeface="a아시아헤드2" panose="02020600000000000000"/>
              </a:rPr>
              <a:t>/</a:t>
            </a:r>
            <a:r>
              <a:rPr lang="ko-KR" altLang="en-US" sz="2200" dirty="0">
                <a:ea typeface="a아시아헤드2" panose="02020600000000000000"/>
              </a:rPr>
              <a:t>문장이라도 문맥에 따라 의미가 달라짐</a:t>
            </a:r>
            <a:endParaRPr lang="en-US" altLang="ko-KR" sz="2200" dirty="0">
              <a:ea typeface="a아시아헤드2" panose="02020600000000000000"/>
            </a:endParaRPr>
          </a:p>
          <a:p>
            <a:endParaRPr lang="en-US" altLang="ko-KR" sz="2200" dirty="0">
              <a:ea typeface="a아시아헤드2" panose="02020600000000000000"/>
            </a:endParaRPr>
          </a:p>
          <a:p>
            <a:pPr marL="285750" indent="-28575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영어 단어 “</a:t>
            </a:r>
            <a:r>
              <a:rPr lang="en-US" altLang="ko-KR" sz="2200" dirty="0">
                <a:ea typeface="a아시아헤드2" panose="02020600000000000000"/>
              </a:rPr>
              <a:t>present”:</a:t>
            </a:r>
            <a:r>
              <a:rPr lang="ko-KR" altLang="en-US" sz="2200" dirty="0">
                <a:ea typeface="a아시아헤드2" panose="02020600000000000000"/>
              </a:rPr>
              <a:t> “선물” </a:t>
            </a:r>
            <a:r>
              <a:rPr lang="en-US" altLang="ko-KR" sz="2200" dirty="0">
                <a:ea typeface="a아시아헤드2" panose="02020600000000000000"/>
              </a:rPr>
              <a:t>/ </a:t>
            </a:r>
            <a:r>
              <a:rPr lang="ko-KR" altLang="en-US" sz="2200" dirty="0">
                <a:ea typeface="a아시아헤드2" panose="02020600000000000000"/>
              </a:rPr>
              <a:t>“현재”</a:t>
            </a:r>
            <a:endParaRPr lang="en-US" altLang="ko-KR" sz="2200" dirty="0">
              <a:ea typeface="a아시아헤드2" panose="02020600000000000000"/>
            </a:endParaRPr>
          </a:p>
          <a:p>
            <a:pPr marL="285750" indent="-28575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우리말 “밥 먹었어</a:t>
            </a:r>
            <a:r>
              <a:rPr lang="en-US" altLang="ko-KR" sz="2200" dirty="0">
                <a:ea typeface="a아시아헤드2" panose="02020600000000000000"/>
              </a:rPr>
              <a:t>?”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</a:t>
            </a:r>
            <a:r>
              <a:rPr lang="ko-KR" altLang="en-US" sz="2200" dirty="0">
                <a:ea typeface="a아시아헤드2" panose="02020600000000000000"/>
              </a:rPr>
              <a:t> 정말로 식사 여부를 묻는 질문일 수도 있고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단순한 안부 인사일 수도 있음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22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3-3-3. </a:t>
            </a:r>
            <a:r>
              <a:rPr lang="en-US" altLang="ko-KR" sz="2200" b="1" dirty="0" err="1">
                <a:ea typeface="a아시아헤드2" panose="02020600000000000000"/>
              </a:rPr>
              <a:t>Synset</a:t>
            </a:r>
            <a:r>
              <a:rPr lang="en-US" altLang="ko-KR" sz="2200" b="1" dirty="0">
                <a:ea typeface="a아시아헤드2" panose="02020600000000000000"/>
              </a:rPr>
              <a:t> </a:t>
            </a:r>
            <a:r>
              <a:rPr lang="ko-KR" altLang="en-US" sz="2200" b="1" dirty="0">
                <a:ea typeface="a아시아헤드2" panose="02020600000000000000"/>
              </a:rPr>
              <a:t>개념</a:t>
            </a:r>
          </a:p>
          <a:p>
            <a:r>
              <a:rPr lang="en-US" altLang="ko-KR" sz="2200" dirty="0">
                <a:ea typeface="a아시아헤드2" panose="02020600000000000000"/>
              </a:rPr>
              <a:t>: WordNet</a:t>
            </a:r>
            <a:r>
              <a:rPr lang="ko-KR" altLang="en-US" sz="2200" dirty="0">
                <a:ea typeface="a아시아헤드2" panose="02020600000000000000"/>
              </a:rPr>
              <a:t>은 </a:t>
            </a:r>
            <a:r>
              <a:rPr lang="ko-KR" altLang="en-US" sz="2200" dirty="0" err="1">
                <a:ea typeface="a아시아헤드2" panose="02020600000000000000"/>
              </a:rPr>
              <a:t>시맨틱</a:t>
            </a:r>
            <a:r>
              <a:rPr lang="ko-KR" altLang="en-US" sz="2200" dirty="0">
                <a:ea typeface="a아시아헤드2" panose="02020600000000000000"/>
              </a:rPr>
              <a:t> 정보 표현을 위해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ko-KR" altLang="en-US" sz="2200" dirty="0">
                <a:ea typeface="a아시아헤드2" panose="02020600000000000000"/>
              </a:rPr>
              <a:t> 사용</a:t>
            </a:r>
            <a:endParaRPr lang="en-US" altLang="ko-KR" sz="2200" dirty="0">
              <a:ea typeface="a아시아헤드2" panose="02020600000000000000"/>
            </a:endParaRPr>
          </a:p>
          <a:p>
            <a:endParaRPr lang="en-US" altLang="ko-KR" sz="22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특징</a:t>
            </a:r>
            <a:endParaRPr lang="en-US" altLang="ko-KR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단순히 단어 하나가 아니라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그 단어가 가지는 문맥</a:t>
            </a:r>
            <a:r>
              <a:rPr lang="en-US" altLang="ko-KR" sz="2200" dirty="0">
                <a:ea typeface="a아시아헤드2" panose="02020600000000000000"/>
              </a:rPr>
              <a:t>·</a:t>
            </a:r>
            <a:r>
              <a:rPr lang="ko-KR" altLang="en-US" sz="2200" dirty="0" err="1">
                <a:ea typeface="a아시아헤드2" panose="02020600000000000000"/>
              </a:rPr>
              <a:t>시맨틱</a:t>
            </a:r>
            <a:r>
              <a:rPr lang="ko-KR" altLang="en-US" sz="2200" dirty="0">
                <a:ea typeface="a아시아헤드2" panose="02020600000000000000"/>
              </a:rPr>
              <a:t> 의미 묶음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품사</a:t>
            </a:r>
            <a:r>
              <a:rPr lang="en-US" altLang="ko-KR" sz="2200" dirty="0">
                <a:ea typeface="a아시아헤드2" panose="02020600000000000000"/>
              </a:rPr>
              <a:t>(</a:t>
            </a:r>
            <a:r>
              <a:rPr lang="ko-KR" altLang="en-US" sz="2200" dirty="0">
                <a:ea typeface="a아시아헤드2" panose="02020600000000000000"/>
              </a:rPr>
              <a:t>명사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동사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형용사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부사 등</a:t>
            </a:r>
            <a:r>
              <a:rPr lang="en-US" altLang="ko-KR" sz="2200" dirty="0">
                <a:ea typeface="a아시아헤드2" panose="02020600000000000000"/>
              </a:rPr>
              <a:t>)</a:t>
            </a:r>
            <a:r>
              <a:rPr lang="ko-KR" altLang="en-US" sz="2200" dirty="0">
                <a:ea typeface="a아시아헤드2" panose="02020600000000000000"/>
              </a:rPr>
              <a:t>별로 구성된 단어들을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en-US" altLang="ko-KR" sz="2200" dirty="0">
                <a:ea typeface="a아시아헤드2" panose="02020600000000000000"/>
              </a:rPr>
              <a:t> </a:t>
            </a:r>
            <a:r>
              <a:rPr lang="ko-KR" altLang="en-US" sz="2200" dirty="0">
                <a:ea typeface="a아시아헤드2" panose="02020600000000000000"/>
              </a:rPr>
              <a:t>단위로 표현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B83C2-D4DE-7966-5212-D8DC2BA67A92}"/>
              </a:ext>
            </a:extLst>
          </p:cNvPr>
          <p:cNvSpPr txBox="1"/>
          <p:nvPr/>
        </p:nvSpPr>
        <p:spPr>
          <a:xfrm>
            <a:off x="7823660" y="1527508"/>
            <a:ext cx="9668328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#3-4. NLTK </a:t>
            </a:r>
            <a:r>
              <a:rPr lang="ko-KR" altLang="en-US" sz="2400" b="1" dirty="0">
                <a:ea typeface="a아시아헤드2" panose="02020600000000000000"/>
              </a:rPr>
              <a:t>대표 감성 사전들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en-US" altLang="ko-KR" b="1" dirty="0">
              <a:ea typeface="a아시아헤드2" panose="02020600000000000000"/>
            </a:endParaRPr>
          </a:p>
          <a:p>
            <a:r>
              <a:rPr lang="en-US" altLang="ko-KR" sz="2200" b="1" dirty="0">
                <a:ea typeface="a아시아헤드2" panose="02020600000000000000"/>
              </a:rPr>
              <a:t>3-4-1. </a:t>
            </a:r>
            <a:r>
              <a:rPr lang="en-US" altLang="ko-KR" sz="2200" b="1" dirty="0" err="1">
                <a:ea typeface="a아시아헤드2" panose="02020600000000000000"/>
              </a:rPr>
              <a:t>SentiWordNet</a:t>
            </a:r>
            <a:endParaRPr lang="ko-KR" altLang="en-US" sz="2200" dirty="0">
              <a:ea typeface="a아시아헤드2" panose="02020600000000000000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200" dirty="0">
                <a:ea typeface="a아시아헤드2" panose="02020600000000000000"/>
              </a:rPr>
              <a:t>NLTK WordNet</a:t>
            </a:r>
            <a:r>
              <a:rPr lang="ko-KR" altLang="en-US" sz="2200" dirty="0">
                <a:ea typeface="a아시아헤드2" panose="02020600000000000000"/>
              </a:rPr>
              <a:t>과 유사하지만</a:t>
            </a:r>
            <a:r>
              <a:rPr lang="en-US" altLang="ko-KR" sz="2200" dirty="0">
                <a:ea typeface="a아시아헤드2" panose="02020600000000000000"/>
              </a:rPr>
              <a:t> </a:t>
            </a:r>
            <a:r>
              <a:rPr lang="ko-KR" altLang="en-US" sz="2200" dirty="0">
                <a:ea typeface="a아시아헤드2" panose="02020600000000000000"/>
              </a:rPr>
              <a:t>감성 단어 전용 </a:t>
            </a:r>
            <a:r>
              <a:rPr lang="en-US" altLang="ko-KR" sz="2200" dirty="0">
                <a:ea typeface="a아시아헤드2" panose="02020600000000000000"/>
              </a:rPr>
              <a:t>WordNet.</a:t>
            </a:r>
          </a:p>
          <a:p>
            <a:pPr marL="800100" lvl="1" indent="-342900">
              <a:buFontTx/>
              <a:buChar char="-"/>
            </a:pPr>
            <a:r>
              <a:rPr lang="en-US" altLang="ko-KR" sz="2200" dirty="0">
                <a:ea typeface="a아시아헤드2" panose="02020600000000000000"/>
              </a:rPr>
              <a:t>WordNet</a:t>
            </a:r>
            <a:r>
              <a:rPr lang="ko-KR" altLang="en-US" sz="2200" dirty="0">
                <a:ea typeface="a아시아헤드2" panose="02020600000000000000"/>
              </a:rPr>
              <a:t>의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en-US" altLang="ko-KR" sz="2200" dirty="0">
                <a:ea typeface="a아시아헤드2" panose="02020600000000000000"/>
              </a:rPr>
              <a:t> </a:t>
            </a:r>
            <a:r>
              <a:rPr lang="ko-KR" altLang="en-US" sz="2200" dirty="0">
                <a:ea typeface="a아시아헤드2" panose="02020600000000000000"/>
              </a:rPr>
              <a:t>개념을 감성 분석에 </a:t>
            </a:r>
            <a:r>
              <a:rPr lang="ko-KR" altLang="en-US" sz="2200" dirty="0" err="1">
                <a:ea typeface="a아시아헤드2" panose="02020600000000000000"/>
              </a:rPr>
              <a:t>특화시킨</a:t>
            </a:r>
            <a:r>
              <a:rPr lang="ko-KR" altLang="en-US" sz="2200" dirty="0">
                <a:ea typeface="a아시아헤드2" panose="02020600000000000000"/>
              </a:rPr>
              <a:t> 구조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각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ko-KR" altLang="en-US" sz="2200" dirty="0">
                <a:ea typeface="a아시아헤드2" panose="02020600000000000000"/>
              </a:rPr>
              <a:t>마다 </a:t>
            </a:r>
            <a:r>
              <a:rPr lang="en-US" altLang="ko-KR" sz="2200" dirty="0">
                <a:ea typeface="a아시아헤드2" panose="02020600000000000000"/>
              </a:rPr>
              <a:t>3</a:t>
            </a:r>
            <a:r>
              <a:rPr lang="ko-KR" altLang="en-US" sz="2200" dirty="0">
                <a:ea typeface="a아시아헤드2" panose="02020600000000000000"/>
              </a:rPr>
              <a:t>가지 감성 점수</a:t>
            </a:r>
            <a:r>
              <a:rPr lang="en-US" altLang="ko-KR" sz="2200" dirty="0">
                <a:ea typeface="a아시아헤드2" panose="02020600000000000000"/>
              </a:rPr>
              <a:t>(</a:t>
            </a:r>
            <a:r>
              <a:rPr lang="ko-KR" altLang="en-US" sz="2200" dirty="0">
                <a:ea typeface="a아시아헤드2" panose="02020600000000000000"/>
              </a:rPr>
              <a:t>긍정 감성 지수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부정 감성 지수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객관성 지수</a:t>
            </a:r>
            <a:r>
              <a:rPr lang="en-US" altLang="ko-KR" sz="2200" dirty="0">
                <a:ea typeface="a아시아헤드2" panose="02020600000000000000"/>
              </a:rPr>
              <a:t>)</a:t>
            </a:r>
            <a:r>
              <a:rPr lang="ko-KR" altLang="en-US" sz="2200" dirty="0">
                <a:ea typeface="a아시아헤드2" panose="02020600000000000000"/>
              </a:rPr>
              <a:t>를 가짐</a:t>
            </a:r>
            <a:endParaRPr lang="en-US" altLang="ko-KR" sz="2200" dirty="0">
              <a:ea typeface="a아시아헤드2" panose="02020600000000000000"/>
            </a:endParaRPr>
          </a:p>
          <a:p>
            <a:pPr lvl="1"/>
            <a:r>
              <a:rPr lang="ko-KR" altLang="en-US" sz="2200" dirty="0">
                <a:ea typeface="a아시아헤드2" panose="02020600000000000000"/>
              </a:rPr>
              <a:t>     </a:t>
            </a:r>
            <a:r>
              <a:rPr lang="en-US" altLang="ko-KR" sz="2200" dirty="0">
                <a:ea typeface="a아시아헤드2" panose="02020600000000000000"/>
              </a:rPr>
              <a:t>* </a:t>
            </a:r>
            <a:r>
              <a:rPr lang="ko-KR" altLang="en-US" sz="2200" dirty="0">
                <a:ea typeface="a아시아헤드2" panose="02020600000000000000"/>
              </a:rPr>
              <a:t>객관성 지수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단어가 감성과 상관없이 얼마나 객관적인지를 나타냄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문장 감성 계산</a:t>
            </a:r>
            <a:endParaRPr lang="en-US" altLang="ko-KR" sz="2200" dirty="0">
              <a:ea typeface="a아시아헤드2" panose="02020600000000000000"/>
            </a:endParaRPr>
          </a:p>
          <a:p>
            <a:pPr marL="1143000" lvl="2" indent="-228600">
              <a:buFont typeface="+mj-lt"/>
              <a:buAutoNum type="arabicPeriod"/>
            </a:pPr>
            <a:r>
              <a:rPr lang="ko-KR" altLang="en-US" sz="2200" dirty="0">
                <a:ea typeface="a아시아헤드2" panose="02020600000000000000"/>
              </a:rPr>
              <a:t>문장 안의 단어별 긍정 감성 지수와 부정 감성 지수를 합산해 최종 감성 지수를 계산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ko-KR" altLang="en-US" sz="2200" dirty="0">
                <a:ea typeface="a아시아헤드2" panose="02020600000000000000"/>
              </a:rPr>
              <a:t>그 값으로 문장이 긍정인지</a:t>
            </a:r>
            <a:r>
              <a:rPr lang="en-US" altLang="ko-KR" sz="2200" dirty="0">
                <a:ea typeface="a아시아헤드2" panose="02020600000000000000"/>
              </a:rPr>
              <a:t>/</a:t>
            </a:r>
            <a:r>
              <a:rPr lang="ko-KR" altLang="en-US" sz="2200" dirty="0">
                <a:ea typeface="a아시아헤드2" panose="02020600000000000000"/>
              </a:rPr>
              <a:t>부정인지 결정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endParaRPr lang="en-US" altLang="ko-KR" sz="2200" dirty="0">
              <a:ea typeface="a아시아헤드2" panose="02020600000000000000"/>
            </a:endParaRPr>
          </a:p>
          <a:p>
            <a:r>
              <a:rPr lang="en-US" altLang="ko-KR" sz="2200" b="1" dirty="0">
                <a:ea typeface="a아시아헤드2" panose="02020600000000000000"/>
              </a:rPr>
              <a:t>3-4-2. VADER</a:t>
            </a:r>
            <a:endParaRPr lang="ko-KR" altLang="en-US" sz="2200" dirty="0">
              <a:ea typeface="a아시아헤드2" panose="02020600000000000000"/>
            </a:endParaRP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주로 소셜 미디어 텍스트에 대한 감성 분석용 패키지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뛰어난 감성 분석 결과를 제공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수행 속도가 빠르고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대용량 텍스트 데이터에 적합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lvl="1"/>
            <a:endParaRPr lang="en-US" altLang="ko-KR" sz="2200" dirty="0">
              <a:ea typeface="a아시아헤드2" panose="02020600000000000000"/>
            </a:endParaRPr>
          </a:p>
          <a:p>
            <a:r>
              <a:rPr lang="en-US" altLang="ko-KR" sz="2200" b="1" dirty="0">
                <a:ea typeface="a아시아헤드2" panose="02020600000000000000"/>
              </a:rPr>
              <a:t>3-4-3. Pattern</a:t>
            </a:r>
            <a:endParaRPr lang="ko-KR" altLang="en-US" sz="2200" dirty="0">
              <a:ea typeface="a아시아헤드2" panose="02020600000000000000"/>
            </a:endParaRP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예측 성능 측면에서 가장 주목받는 패키지 중 하나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800100" lvl="1" indent="-342900">
              <a:buFontTx/>
              <a:buChar char="-"/>
            </a:pPr>
            <a:r>
              <a:rPr lang="ko-KR" altLang="en-US" sz="2200" dirty="0">
                <a:ea typeface="a아시아헤드2" panose="02020600000000000000"/>
              </a:rPr>
              <a:t>단점</a:t>
            </a:r>
            <a:r>
              <a:rPr lang="en-US" altLang="ko-KR" sz="2200" dirty="0">
                <a:ea typeface="a아시아헤드2" panose="02020600000000000000"/>
              </a:rPr>
              <a:t> : </a:t>
            </a:r>
            <a:r>
              <a:rPr lang="ko-KR" altLang="en-US" sz="2200" dirty="0">
                <a:ea typeface="a아시아헤드2" panose="02020600000000000000"/>
              </a:rPr>
              <a:t>파이썬 </a:t>
            </a:r>
            <a:r>
              <a:rPr lang="en-US" altLang="ko-KR" sz="2200" dirty="0">
                <a:ea typeface="a아시아헤드2" panose="02020600000000000000"/>
              </a:rPr>
              <a:t>3.x</a:t>
            </a:r>
            <a:r>
              <a:rPr lang="ko-KR" altLang="en-US" sz="2200" dirty="0">
                <a:ea typeface="a아시아헤드2" panose="02020600000000000000"/>
              </a:rPr>
              <a:t>를 지원하지 않고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파이썬 </a:t>
            </a:r>
            <a:r>
              <a:rPr lang="en-US" altLang="ko-KR" sz="2200" dirty="0">
                <a:ea typeface="a아시아헤드2" panose="02020600000000000000"/>
              </a:rPr>
              <a:t>2.x</a:t>
            </a:r>
            <a:r>
              <a:rPr lang="ko-KR" altLang="en-US" sz="2200" dirty="0">
                <a:ea typeface="a아시아헤드2" panose="02020600000000000000"/>
              </a:rPr>
              <a:t>에서만 동작</a:t>
            </a:r>
            <a:r>
              <a:rPr lang="en-US" altLang="ko-KR" sz="2200" dirty="0">
                <a:ea typeface="a아시아헤드2" panose="02020600000000000000"/>
              </a:rPr>
              <a:t>(</a:t>
            </a:r>
            <a:r>
              <a:rPr lang="ko-KR" altLang="en-US" sz="2200" dirty="0">
                <a:ea typeface="a아시아헤드2" panose="02020600000000000000"/>
              </a:rPr>
              <a:t>현재 기준</a:t>
            </a:r>
            <a:r>
              <a:rPr lang="en-US" altLang="ko-KR" sz="2200" dirty="0">
                <a:ea typeface="a아시아헤드2" panose="0202060000000000000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09342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4499-A810-6FBE-CFED-23700E0F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6D068657-3602-F9A2-F11B-958CFE75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18F7E3-61F6-BC12-25C3-2BE726A4077F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4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en-US" altLang="ko-KR" sz="4800" b="1" dirty="0" err="1"/>
              <a:t>SentiWordNet</a:t>
            </a:r>
            <a:r>
              <a:rPr lang="en-US" altLang="ko-KR" sz="4800" b="1" dirty="0"/>
              <a:t> </a:t>
            </a:r>
            <a:r>
              <a:rPr lang="ko-KR" altLang="en-US" sz="4800" b="1" dirty="0"/>
              <a:t>을 이용한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0BC751-9FB8-A1FF-41FA-5D6E7981E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29" y="1623800"/>
            <a:ext cx="8855871" cy="84430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2D88B-1692-B8B0-9572-D669B663C99D}"/>
              </a:ext>
            </a:extLst>
          </p:cNvPr>
          <p:cNvSpPr txBox="1"/>
          <p:nvPr/>
        </p:nvSpPr>
        <p:spPr>
          <a:xfrm>
            <a:off x="9270205" y="1505655"/>
            <a:ext cx="8141496" cy="85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#4-1. WordNet</a:t>
            </a:r>
            <a:r>
              <a:rPr lang="ko-KR" altLang="en-US" sz="2400" b="1" dirty="0">
                <a:ea typeface="a아시아헤드2" panose="02020600000000000000"/>
              </a:rPr>
              <a:t>의 </a:t>
            </a:r>
            <a:r>
              <a:rPr lang="en-US" altLang="ko-KR" sz="2400" b="1" dirty="0" err="1">
                <a:ea typeface="a아시아헤드2" panose="02020600000000000000"/>
              </a:rPr>
              <a:t>Synset</a:t>
            </a:r>
            <a:r>
              <a:rPr lang="en-US" altLang="ko-KR" sz="2400" b="1" dirty="0">
                <a:ea typeface="a아시아헤드2" panose="02020600000000000000"/>
              </a:rPr>
              <a:t> </a:t>
            </a:r>
            <a:r>
              <a:rPr lang="ko-KR" altLang="en-US" sz="2400" b="1" dirty="0">
                <a:ea typeface="a아시아헤드2" panose="02020600000000000000"/>
              </a:rPr>
              <a:t>다루기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4-1-1. </a:t>
            </a:r>
            <a:r>
              <a:rPr lang="en-US" altLang="ko-KR" sz="2200" b="1" dirty="0" err="1">
                <a:ea typeface="a아시아헤드2" panose="02020600000000000000"/>
              </a:rPr>
              <a:t>synsets</a:t>
            </a:r>
            <a:r>
              <a:rPr lang="en-US" altLang="ko-KR" sz="2200" b="1" dirty="0">
                <a:ea typeface="a아시아헤드2" panose="02020600000000000000"/>
              </a:rPr>
              <a:t>()</a:t>
            </a:r>
            <a:r>
              <a:rPr lang="ko-KR" altLang="en-US" sz="2200" b="1" dirty="0">
                <a:ea typeface="a아시아헤드2" panose="02020600000000000000"/>
              </a:rPr>
              <a:t>로 </a:t>
            </a:r>
            <a:r>
              <a:rPr lang="en-US" altLang="ko-KR" sz="2200" b="1" dirty="0" err="1">
                <a:ea typeface="a아시아헤드2" panose="02020600000000000000"/>
              </a:rPr>
              <a:t>Synset</a:t>
            </a:r>
            <a:r>
              <a:rPr lang="en-US" altLang="ko-KR" sz="2200" b="1" dirty="0">
                <a:ea typeface="a아시아헤드2" panose="02020600000000000000"/>
              </a:rPr>
              <a:t> </a:t>
            </a:r>
            <a:r>
              <a:rPr lang="ko-KR" altLang="en-US" sz="2200" b="1" dirty="0">
                <a:ea typeface="a아시아헤드2" panose="02020600000000000000"/>
              </a:rPr>
              <a:t>리스트 얻기</a:t>
            </a:r>
          </a:p>
          <a:p>
            <a:r>
              <a:rPr lang="en-US" altLang="ko-KR" sz="2200" dirty="0">
                <a:ea typeface="a아시아헤드2" panose="02020600000000000000"/>
              </a:rPr>
              <a:t>-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en-US" altLang="ko-KR" sz="2200" dirty="0">
                <a:ea typeface="a아시아헤드2" panose="02020600000000000000"/>
              </a:rPr>
              <a:t> </a:t>
            </a:r>
            <a:r>
              <a:rPr lang="ko-KR" altLang="en-US" sz="2200" dirty="0">
                <a:ea typeface="a아시아헤드2" panose="02020600000000000000"/>
              </a:rPr>
              <a:t>객체의 표기 예</a:t>
            </a:r>
            <a:r>
              <a:rPr lang="en-US" altLang="ko-KR" sz="2200" dirty="0">
                <a:ea typeface="a아시아헤드2" panose="02020600000000000000"/>
              </a:rPr>
              <a:t>:</a:t>
            </a:r>
          </a:p>
          <a:p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Synset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(＇present.n.01＇)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Present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단어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N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명사</a:t>
            </a:r>
            <a:endParaRPr lang="en-US" altLang="ko-KR" sz="2200" dirty="0">
              <a:ea typeface="a아시아헤드2" panose="0202060000000000000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01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100" dirty="0">
                <a:ea typeface="a아시아헤드2" panose="02020600000000000000"/>
              </a:rPr>
              <a:t>해당 단어가 명사일 때 가지는 여러 의미 중 첫 번째 의미</a:t>
            </a:r>
            <a:endParaRPr lang="en-US" altLang="ko-KR" sz="2100" dirty="0">
              <a:ea typeface="a아시아헤드2" panose="02020600000000000000"/>
            </a:endParaRPr>
          </a:p>
          <a:p>
            <a:pPr lvl="2"/>
            <a:endParaRPr lang="ko-KR" altLang="en-US" sz="22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4-1-2. </a:t>
            </a:r>
            <a:r>
              <a:rPr lang="en-US" altLang="ko-KR" sz="2200" b="1" dirty="0" err="1">
                <a:ea typeface="a아시아헤드2" panose="02020600000000000000"/>
              </a:rPr>
              <a:t>Synset</a:t>
            </a:r>
            <a:r>
              <a:rPr lang="ko-KR" altLang="en-US" sz="2200" b="1" dirty="0">
                <a:ea typeface="a아시아헤드2" panose="02020600000000000000"/>
              </a:rPr>
              <a:t>의 속성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POS : </a:t>
            </a:r>
            <a:r>
              <a:rPr lang="ko-KR" altLang="en-US" sz="2200" dirty="0">
                <a:ea typeface="a아시아헤드2" panose="02020600000000000000"/>
              </a:rPr>
              <a:t>품사 정보</a:t>
            </a:r>
            <a:endParaRPr lang="en-US" altLang="ko-KR" sz="22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Definition: </a:t>
            </a:r>
            <a:r>
              <a:rPr lang="ko-KR" altLang="en-US" sz="2200" dirty="0">
                <a:ea typeface="a아시아헤드2" panose="02020600000000000000"/>
              </a:rPr>
              <a:t>해당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en-US" altLang="ko-KR" sz="2200" dirty="0">
                <a:ea typeface="a아시아헤드2" panose="02020600000000000000"/>
              </a:rPr>
              <a:t> </a:t>
            </a:r>
            <a:r>
              <a:rPr lang="ko-KR" altLang="en-US" sz="2200" dirty="0">
                <a:ea typeface="a아시아헤드2" panose="02020600000000000000"/>
              </a:rPr>
              <a:t>의미에 대한 정의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Lemma(</a:t>
            </a:r>
            <a:r>
              <a:rPr lang="ko-KR" altLang="en-US" sz="2200" dirty="0" err="1">
                <a:ea typeface="a아시아헤드2" panose="02020600000000000000"/>
              </a:rPr>
              <a:t>부명제</a:t>
            </a:r>
            <a:r>
              <a:rPr lang="en-US" altLang="ko-KR" sz="2200" dirty="0">
                <a:ea typeface="a아시아헤드2" panose="02020600000000000000"/>
              </a:rPr>
              <a:t>):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ko-KR" altLang="en-US" sz="2200" dirty="0">
                <a:ea typeface="a아시아헤드2" panose="02020600000000000000"/>
              </a:rPr>
              <a:t>에 속하는 구체적인 단어들</a:t>
            </a:r>
            <a:endParaRPr lang="en-US" altLang="ko-KR" sz="2200" dirty="0">
              <a:ea typeface="a아시아헤드2" panose="02020600000000000000"/>
            </a:endParaRPr>
          </a:p>
          <a:p>
            <a:endParaRPr lang="ko-KR" altLang="en-US" sz="22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4-1-3. </a:t>
            </a:r>
            <a:r>
              <a:rPr lang="ko-KR" altLang="en-US" sz="2200" b="1" dirty="0">
                <a:ea typeface="a아시아헤드2" panose="02020600000000000000"/>
              </a:rPr>
              <a:t>예시 </a:t>
            </a:r>
            <a:r>
              <a:rPr lang="en-US" altLang="ko-KR" sz="2200" b="1" dirty="0" err="1">
                <a:ea typeface="a아시아헤드2" panose="02020600000000000000"/>
              </a:rPr>
              <a:t>Synset</a:t>
            </a:r>
            <a:r>
              <a:rPr lang="ko-KR" altLang="en-US" sz="2200" b="1" dirty="0">
                <a:ea typeface="a아시아헤드2" panose="02020600000000000000"/>
              </a:rPr>
              <a:t>들의 의미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Synset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('present.n.01')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POS: </a:t>
            </a: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noun.time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Definition: </a:t>
            </a:r>
            <a:r>
              <a:rPr lang="ko-KR" altLang="en-US" sz="2200" dirty="0">
                <a:ea typeface="a아시아헤드2" panose="02020600000000000000"/>
              </a:rPr>
              <a:t>“시간적인 의미의 현재”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Synset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('present.n.02')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POS: </a:t>
            </a: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noun.possession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Definition: </a:t>
            </a:r>
            <a:r>
              <a:rPr lang="ko-KR" altLang="en-US" sz="2200" dirty="0">
                <a:ea typeface="a아시아헤드2" panose="02020600000000000000"/>
              </a:rPr>
              <a:t>“선물”</a:t>
            </a:r>
            <a:endParaRPr lang="en-US" altLang="ko-KR" sz="2200" dirty="0">
              <a:ea typeface="a아시아헤드2" panose="02020600000000000000"/>
            </a:endParaRPr>
          </a:p>
          <a:p>
            <a:pPr lvl="1"/>
            <a:endParaRPr lang="ko-KR" altLang="en-US" sz="2200" dirty="0">
              <a:ea typeface="a아시아헤드2" panose="02020600000000000000"/>
            </a:endParaRPr>
          </a:p>
          <a:p>
            <a:pPr>
              <a:buNone/>
            </a:pPr>
            <a:r>
              <a:rPr lang="ko-KR" altLang="en-US" sz="2100" dirty="0">
                <a:ea typeface="a아시아헤드2" panose="02020600000000000000"/>
              </a:rPr>
              <a:t>→ 같은 “</a:t>
            </a:r>
            <a:r>
              <a:rPr lang="en-US" altLang="ko-KR" sz="2100" dirty="0">
                <a:ea typeface="a아시아헤드2" panose="02020600000000000000"/>
              </a:rPr>
              <a:t>present”</a:t>
            </a:r>
            <a:r>
              <a:rPr lang="ko-KR" altLang="en-US" sz="2100" dirty="0">
                <a:ea typeface="a아시아헤드2" panose="02020600000000000000"/>
              </a:rPr>
              <a:t>라는 단어도 </a:t>
            </a:r>
            <a:r>
              <a:rPr lang="en-US" altLang="ko-KR" sz="2100" dirty="0" err="1">
                <a:ea typeface="a아시아헤드2" panose="02020600000000000000"/>
              </a:rPr>
              <a:t>Synset</a:t>
            </a:r>
            <a:r>
              <a:rPr lang="ko-KR" altLang="en-US" sz="2100" dirty="0">
                <a:ea typeface="a아시아헤드2" panose="02020600000000000000"/>
              </a:rPr>
              <a:t>에 따라 전혀 다른 의미로 표현되고</a:t>
            </a:r>
            <a:r>
              <a:rPr lang="en-US" altLang="ko-KR" sz="2100" dirty="0">
                <a:ea typeface="a아시아헤드2" panose="02020600000000000000"/>
              </a:rPr>
              <a:t>, </a:t>
            </a:r>
            <a:r>
              <a:rPr lang="ko-KR" altLang="en-US" sz="2100" dirty="0">
                <a:ea typeface="a아시아헤드2" panose="02020600000000000000"/>
              </a:rPr>
              <a:t>이를 통해 </a:t>
            </a:r>
            <a:r>
              <a:rPr lang="en-US" altLang="ko-KR" sz="2100" dirty="0">
                <a:ea typeface="a아시아헤드2" panose="02020600000000000000"/>
              </a:rPr>
              <a:t>WordNet</a:t>
            </a:r>
            <a:r>
              <a:rPr lang="ko-KR" altLang="en-US" sz="2100" dirty="0">
                <a:ea typeface="a아시아헤드2" panose="02020600000000000000"/>
              </a:rPr>
              <a:t>이 </a:t>
            </a:r>
            <a:r>
              <a:rPr lang="ko-KR" altLang="en-US" sz="2100" dirty="0" err="1">
                <a:ea typeface="a아시아헤드2" panose="02020600000000000000"/>
              </a:rPr>
              <a:t>시맨틱</a:t>
            </a:r>
            <a:r>
              <a:rPr lang="ko-KR" altLang="en-US" sz="2100" dirty="0">
                <a:ea typeface="a아시아헤드2" panose="02020600000000000000"/>
              </a:rPr>
              <a:t> 정보를 구조적으로 표현함</a:t>
            </a:r>
            <a:endParaRPr lang="en-US" altLang="ko-KR" sz="2200" dirty="0">
              <a:ea typeface="a아시아헤드2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988268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E939-49CD-48D0-1472-9D04D048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6791A81F-B05F-050C-8B98-48A5BE307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CA6611-DAE2-C1A0-9493-1684ECA3FAF9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4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en-US" altLang="ko-KR" sz="4800" b="1" dirty="0" err="1"/>
              <a:t>SentiWordNet</a:t>
            </a:r>
            <a:r>
              <a:rPr lang="en-US" altLang="ko-KR" sz="4800" b="1" dirty="0"/>
              <a:t> </a:t>
            </a:r>
            <a:r>
              <a:rPr lang="ko-KR" altLang="en-US" sz="4800" b="1" dirty="0"/>
              <a:t>을 이용한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14C64F-915B-A372-193D-BBFCC0496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33" y="1590180"/>
            <a:ext cx="10168003" cy="66398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2917DA-3560-8545-99B8-2BB8236ED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69" y="1671124"/>
            <a:ext cx="4310581" cy="3357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8FE9CF-4EA5-FE82-34AE-47D8BE50FB09}"/>
              </a:ext>
            </a:extLst>
          </p:cNvPr>
          <p:cNvSpPr txBox="1"/>
          <p:nvPr/>
        </p:nvSpPr>
        <p:spPr>
          <a:xfrm>
            <a:off x="10872269" y="5734098"/>
            <a:ext cx="642483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#4-2 WordNet</a:t>
            </a:r>
            <a:r>
              <a:rPr lang="ko-KR" altLang="en-US" sz="2400" b="1" dirty="0">
                <a:ea typeface="a아시아헤드2" panose="02020600000000000000"/>
              </a:rPr>
              <a:t>의 단어 간 유사도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어휘와 어휘 간 관계를 유사도로 표현 가능</a:t>
            </a:r>
            <a:endParaRPr lang="en-US" altLang="ko-KR" sz="2200" dirty="0">
              <a:ea typeface="a아시아헤드2" panose="02020600000000000000"/>
            </a:endParaRPr>
          </a:p>
          <a:p>
            <a:endParaRPr lang="en-US" altLang="ko-KR" sz="22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 </a:t>
            </a: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path_similarity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()</a:t>
            </a:r>
            <a:r>
              <a:rPr lang="ko-KR" altLang="en-US" sz="2200" dirty="0">
                <a:ea typeface="a아시아헤드2" panose="02020600000000000000"/>
              </a:rPr>
              <a:t> 메서드 제공</a:t>
            </a:r>
            <a:r>
              <a:rPr lang="en-US" altLang="ko-KR" sz="2200" dirty="0">
                <a:ea typeface="a아시아헤드2" panose="02020600000000000000"/>
              </a:rPr>
              <a:t>: </a:t>
            </a:r>
          </a:p>
          <a:p>
            <a:r>
              <a:rPr lang="ko-KR" altLang="en-US" sz="2200" dirty="0">
                <a:ea typeface="a아시아헤드2" panose="02020600000000000000"/>
              </a:rPr>
              <a:t>    두 </a:t>
            </a:r>
            <a:r>
              <a:rPr lang="en-US" altLang="ko-KR" sz="2200" dirty="0" err="1">
                <a:ea typeface="a아시아헤드2" panose="02020600000000000000"/>
              </a:rPr>
              <a:t>Synset</a:t>
            </a:r>
            <a:r>
              <a:rPr lang="en-US" altLang="ko-KR" sz="2200" dirty="0">
                <a:ea typeface="a아시아헤드2" panose="02020600000000000000"/>
              </a:rPr>
              <a:t> </a:t>
            </a:r>
            <a:r>
              <a:rPr lang="ko-KR" altLang="en-US" sz="2200" dirty="0">
                <a:ea typeface="a아시아헤드2" panose="02020600000000000000"/>
              </a:rPr>
              <a:t>사이의 경로 기반 유사도를 계산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2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결과값</a:t>
            </a:r>
            <a:endParaRPr lang="en-US" altLang="ko-KR" sz="22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lion</a:t>
            </a:r>
            <a:r>
              <a:rPr lang="ko-KR" altLang="en-US" sz="2200" dirty="0">
                <a:ea typeface="a아시아헤드2" panose="02020600000000000000"/>
              </a:rPr>
              <a:t>과 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tree</a:t>
            </a:r>
            <a:r>
              <a:rPr lang="ko-KR" altLang="en-US" sz="2200" dirty="0">
                <a:ea typeface="a아시아헤드2" panose="02020600000000000000"/>
              </a:rPr>
              <a:t>의 유사도</a:t>
            </a:r>
            <a:r>
              <a:rPr lang="en-US" altLang="ko-KR" sz="2200" dirty="0">
                <a:ea typeface="a아시아헤드2" panose="02020600000000000000"/>
              </a:rPr>
              <a:t>: 0.07</a:t>
            </a:r>
            <a:r>
              <a:rPr lang="ko-KR" altLang="en-US" sz="2200" dirty="0">
                <a:ea typeface="a아시아헤드2" panose="02020600000000000000"/>
              </a:rPr>
              <a:t> → 가장 낮음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lion</a:t>
            </a:r>
            <a:r>
              <a:rPr lang="ko-KR" altLang="en-US" sz="2200" dirty="0">
                <a:ea typeface="a아시아헤드2" panose="02020600000000000000"/>
              </a:rPr>
              <a:t>과 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tiger</a:t>
            </a:r>
            <a:r>
              <a:rPr lang="ko-KR" altLang="en-US" sz="2200" dirty="0">
                <a:ea typeface="a아시아헤드2" panose="02020600000000000000"/>
              </a:rPr>
              <a:t>의 유사도</a:t>
            </a:r>
            <a:r>
              <a:rPr lang="en-US" altLang="ko-KR" sz="2200" dirty="0">
                <a:ea typeface="a아시아헤드2" panose="02020600000000000000"/>
              </a:rPr>
              <a:t>: 0.33</a:t>
            </a:r>
            <a:r>
              <a:rPr lang="ko-KR" altLang="en-US" sz="2200" dirty="0">
                <a:ea typeface="a아시아헤드2" panose="02020600000000000000"/>
              </a:rPr>
              <a:t> → 가장 큼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 marL="342900" indent="-342900">
              <a:buFontTx/>
              <a:buChar char="-"/>
            </a:pPr>
            <a:endParaRPr lang="en-US" altLang="ko-KR" sz="2200" dirty="0">
              <a:ea typeface="a아시아헤드2" panose="02020600000000000000"/>
            </a:endParaRPr>
          </a:p>
          <a:p>
            <a:r>
              <a:rPr lang="ko-KR" altLang="en-US" sz="2200" dirty="0">
                <a:ea typeface="a아시아헤드2" panose="02020600000000000000"/>
              </a:rPr>
              <a:t>→  어휘들 사이의 의미적 거리를 </a:t>
            </a:r>
            <a:r>
              <a:rPr lang="ko-KR" altLang="en-US" sz="2200" dirty="0" err="1">
                <a:ea typeface="a아시아헤드2" panose="02020600000000000000"/>
              </a:rPr>
              <a:t>수치화할</a:t>
            </a:r>
            <a:r>
              <a:rPr lang="ko-KR" altLang="en-US" sz="2200" dirty="0">
                <a:ea typeface="a아시아헤드2" panose="02020600000000000000"/>
              </a:rPr>
              <a:t> 수 있음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4411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1B96-9878-67B6-24F0-FF1B8123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C9DD152D-4D9C-00A6-B987-1CF34E3CC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C3BBE-0073-9106-5CE0-2C5C1B2F6E11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4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en-US" altLang="ko-KR" sz="4800" b="1" dirty="0" err="1"/>
              <a:t>SentiWordNet</a:t>
            </a:r>
            <a:r>
              <a:rPr lang="en-US" altLang="ko-KR" sz="4800" b="1" dirty="0"/>
              <a:t> </a:t>
            </a:r>
            <a:r>
              <a:rPr lang="ko-KR" altLang="en-US" sz="4800" b="1" dirty="0"/>
              <a:t>을 이용한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D6FC0F-10FA-E2D8-3BBA-E979D0CD7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9" y="1673106"/>
            <a:ext cx="8203411" cy="8269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70867-205C-1F97-5D95-6453654EE53F}"/>
              </a:ext>
            </a:extLst>
          </p:cNvPr>
          <p:cNvSpPr txBox="1"/>
          <p:nvPr/>
        </p:nvSpPr>
        <p:spPr>
          <a:xfrm>
            <a:off x="8754340" y="1673106"/>
            <a:ext cx="9202056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#4-3 </a:t>
            </a:r>
            <a:r>
              <a:rPr lang="en-US" altLang="ko-KR" sz="2400" b="1" dirty="0" err="1">
                <a:ea typeface="a아시아헤드2" panose="02020600000000000000"/>
              </a:rPr>
              <a:t>SentiWordNet</a:t>
            </a:r>
            <a:r>
              <a:rPr lang="ko-KR" altLang="en-US" sz="2400" b="1" dirty="0">
                <a:ea typeface="a아시아헤드2" panose="02020600000000000000"/>
              </a:rPr>
              <a:t>의 </a:t>
            </a:r>
            <a:r>
              <a:rPr lang="en-US" altLang="ko-KR" sz="2400" b="1" dirty="0" err="1">
                <a:ea typeface="a아시아헤드2" panose="02020600000000000000"/>
              </a:rPr>
              <a:t>SentiSynset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en-US" altLang="ko-KR" sz="2200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4-3-1. </a:t>
            </a:r>
            <a:r>
              <a:rPr lang="en-US" altLang="ko-KR" sz="2200" b="1" dirty="0" err="1">
                <a:ea typeface="a아시아헤드2" panose="02020600000000000000"/>
              </a:rPr>
              <a:t>SentiSynset</a:t>
            </a:r>
            <a:r>
              <a:rPr lang="ko-KR" altLang="en-US" sz="2200" b="1" dirty="0">
                <a:ea typeface="a아시아헤드2" panose="02020600000000000000"/>
              </a:rPr>
              <a:t>의 지수</a:t>
            </a:r>
            <a:endParaRPr lang="en-US" altLang="ko-KR" sz="22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200" b="1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감성 지수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긍정 감성 지수 </a:t>
            </a:r>
            <a:r>
              <a:rPr lang="en-US" altLang="ko-KR" sz="2200" dirty="0">
                <a:ea typeface="a아시아헤드2" panose="02020600000000000000"/>
              </a:rPr>
              <a:t>/</a:t>
            </a:r>
            <a:r>
              <a:rPr lang="ko-KR" altLang="en-US" sz="2200" dirty="0">
                <a:ea typeface="a아시아헤드2" panose="02020600000000000000"/>
              </a:rPr>
              <a:t> 부정 감성 지수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객관성 지수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단어가 얼마나 감성과 관련 없이 객관적인지를 나타냄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r>
              <a:rPr lang="ko-KR" altLang="en-US" sz="2200" dirty="0">
                <a:ea typeface="a아시아헤드2" panose="02020600000000000000"/>
              </a:rPr>
              <a:t>  예</a:t>
            </a:r>
            <a:r>
              <a:rPr lang="en-US" altLang="ko-KR" sz="2200" dirty="0">
                <a:ea typeface="a아시아헤드2" panose="02020600000000000000"/>
              </a:rPr>
              <a:t>) </a:t>
            </a:r>
            <a:r>
              <a:rPr lang="ko-KR" altLang="en-US" sz="2200" dirty="0">
                <a:ea typeface="a아시아헤드2" panose="02020600000000000000"/>
              </a:rPr>
              <a:t>어떤 단어가 전혀 감성적이지 않으면</a:t>
            </a:r>
            <a:r>
              <a:rPr lang="en-US" altLang="ko-KR" sz="2200" dirty="0">
                <a:ea typeface="a아시아헤드2" panose="02020600000000000000"/>
              </a:rPr>
              <a:t>,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객관성 지수 </a:t>
            </a:r>
            <a:r>
              <a:rPr lang="en-US" altLang="ko-KR" sz="2200" dirty="0">
                <a:ea typeface="a아시아헤드2" panose="02020600000000000000"/>
              </a:rPr>
              <a:t>= 1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긍정 감성 지수 </a:t>
            </a:r>
            <a:r>
              <a:rPr lang="en-US" altLang="ko-KR" sz="2200" dirty="0">
                <a:ea typeface="a아시아헤드2" panose="02020600000000000000"/>
              </a:rPr>
              <a:t>= 0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부정 감성 지수 </a:t>
            </a:r>
            <a:r>
              <a:rPr lang="en-US" altLang="ko-KR" sz="2200" dirty="0">
                <a:ea typeface="a아시아헤드2" panose="02020600000000000000"/>
              </a:rPr>
              <a:t>= 0</a:t>
            </a:r>
          </a:p>
          <a:p>
            <a:pPr lvl="2"/>
            <a:endParaRPr lang="en-US" altLang="ko-KR" sz="22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4-3-2. </a:t>
            </a:r>
            <a:r>
              <a:rPr lang="ko-KR" altLang="en-US" sz="2200" b="1" dirty="0">
                <a:ea typeface="a아시아헤드2" panose="02020600000000000000"/>
              </a:rPr>
              <a:t>예시</a:t>
            </a:r>
            <a:r>
              <a:rPr lang="en-US" altLang="ko-KR" sz="2200" b="1" dirty="0">
                <a:ea typeface="a아시아헤드2" panose="02020600000000000000"/>
              </a:rPr>
              <a:t>: father vs fabulous</a:t>
            </a:r>
          </a:p>
          <a:p>
            <a:pPr>
              <a:buNone/>
            </a:pPr>
            <a:endParaRPr lang="en-US" altLang="ko-KR" sz="2200" b="1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Father(</a:t>
            </a:r>
            <a:r>
              <a:rPr lang="ko-KR" altLang="en-US" sz="2200" dirty="0">
                <a:ea typeface="a아시아헤드2" panose="02020600000000000000"/>
              </a:rPr>
              <a:t>아버지</a:t>
            </a:r>
            <a:r>
              <a:rPr lang="en-US" altLang="ko-KR" sz="2200" dirty="0">
                <a:ea typeface="a아시아헤드2" panose="02020600000000000000"/>
              </a:rPr>
              <a:t>)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객관성 지수</a:t>
            </a:r>
            <a:r>
              <a:rPr lang="en-US" altLang="ko-KR" sz="2200" dirty="0">
                <a:ea typeface="a아시아헤드2" panose="02020600000000000000"/>
              </a:rPr>
              <a:t>: 1.0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긍정 감성 지수</a:t>
            </a:r>
            <a:r>
              <a:rPr lang="en-US" altLang="ko-KR" sz="2200" dirty="0">
                <a:ea typeface="a아시아헤드2" panose="02020600000000000000"/>
              </a:rPr>
              <a:t>: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부정 감성 지수</a:t>
            </a:r>
            <a:r>
              <a:rPr lang="en-US" altLang="ko-KR" sz="2200" dirty="0">
                <a:ea typeface="a아시아헤드2" panose="02020600000000000000"/>
              </a:rPr>
              <a:t>: 0</a:t>
            </a:r>
          </a:p>
          <a:p>
            <a:pPr lvl="1"/>
            <a:r>
              <a:rPr lang="en-US" altLang="ko-KR" sz="2200" dirty="0">
                <a:ea typeface="a아시아헤드2" panose="02020600000000000000"/>
              </a:rPr>
              <a:t>→ </a:t>
            </a:r>
            <a:r>
              <a:rPr lang="ko-KR" altLang="en-US" sz="2200" dirty="0">
                <a:ea typeface="a아시아헤드2" panose="02020600000000000000"/>
              </a:rPr>
              <a:t>감성 단어가 아니라 매우 객관적인 단어로 정의</a:t>
            </a:r>
            <a:br>
              <a:rPr lang="ko-KR" altLang="en-US" sz="2200" dirty="0">
                <a:ea typeface="a아시아헤드2" panose="02020600000000000000"/>
              </a:rPr>
            </a:br>
            <a:endParaRPr lang="en-US" altLang="ko-KR" sz="22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Fabulous(</a:t>
            </a:r>
            <a:r>
              <a:rPr lang="ko-KR" altLang="en-US" sz="2200" dirty="0">
                <a:ea typeface="a아시아헤드2" panose="02020600000000000000"/>
              </a:rPr>
              <a:t>기막히게 멋진</a:t>
            </a:r>
            <a:r>
              <a:rPr lang="en-US" altLang="ko-KR" sz="2200" dirty="0">
                <a:ea typeface="a아시아헤드2" panose="02020600000000000000"/>
              </a:rPr>
              <a:t>)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긍정 감성 지수</a:t>
            </a:r>
            <a:r>
              <a:rPr lang="en-US" altLang="ko-KR" sz="2200" dirty="0">
                <a:ea typeface="a아시아헤드2" panose="02020600000000000000"/>
              </a:rPr>
              <a:t>: 0.875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부정 감성 지수</a:t>
            </a:r>
            <a:r>
              <a:rPr lang="en-US" altLang="ko-KR" sz="2200" dirty="0">
                <a:ea typeface="a아시아헤드2" panose="02020600000000000000"/>
              </a:rPr>
              <a:t>: 0.125</a:t>
            </a:r>
          </a:p>
          <a:p>
            <a:pPr lvl="1"/>
            <a:r>
              <a:rPr lang="en-US" altLang="ko-KR" sz="2200" dirty="0">
                <a:ea typeface="a아시아헤드2" panose="02020600000000000000"/>
              </a:rPr>
              <a:t>→ </a:t>
            </a:r>
            <a:r>
              <a:rPr lang="ko-KR" altLang="en-US" sz="2200" dirty="0">
                <a:ea typeface="a아시아헤드2" panose="02020600000000000000"/>
              </a:rPr>
              <a:t>분명한 감성 단어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ko-KR" altLang="en-US" sz="2200" dirty="0">
                <a:ea typeface="a아시아헤드2" panose="02020600000000000000"/>
              </a:rPr>
              <a:t>긍정 쪽으로 강하게 치우친 단어로 해석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8184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9B151-F6C7-2F44-B6EC-E4A3C81C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ACDD7542-784B-387C-7A30-ADCADF53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61EC56-DF22-9732-5E6A-3E0F54FF7D63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5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en-US" altLang="ko-KR" sz="4800" b="1" dirty="0" err="1"/>
              <a:t>SentiWordNet</a:t>
            </a:r>
            <a:r>
              <a:rPr lang="ko-KR" altLang="en-US" sz="4800" b="1" dirty="0"/>
              <a:t>을 이용한 영화 </a:t>
            </a:r>
            <a:r>
              <a:rPr lang="ko-KR" altLang="en-US" sz="4800" b="1" dirty="0" err="1"/>
              <a:t>감상평</a:t>
            </a:r>
            <a:r>
              <a:rPr lang="ko-KR" altLang="en-US" sz="4800" b="1" dirty="0"/>
              <a:t>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184A0-D748-A099-C605-3D7BC638E25E}"/>
              </a:ext>
            </a:extLst>
          </p:cNvPr>
          <p:cNvSpPr txBox="1"/>
          <p:nvPr/>
        </p:nvSpPr>
        <p:spPr>
          <a:xfrm>
            <a:off x="300719" y="1563796"/>
            <a:ext cx="768123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#5-1 </a:t>
            </a:r>
            <a:r>
              <a:rPr lang="en-US" altLang="ko-KR" sz="2800" b="1" dirty="0" err="1">
                <a:ea typeface="a아시아헤드2" panose="02020600000000000000"/>
              </a:rPr>
              <a:t>SentiWordNet</a:t>
            </a:r>
            <a:r>
              <a:rPr lang="en-US" altLang="ko-KR" sz="2800" b="1" dirty="0">
                <a:ea typeface="a아시아헤드2" panose="02020600000000000000"/>
              </a:rPr>
              <a:t> </a:t>
            </a:r>
            <a:r>
              <a:rPr lang="ko-KR" altLang="en-US" sz="2800" b="1" dirty="0">
                <a:ea typeface="a아시아헤드2" panose="02020600000000000000"/>
              </a:rPr>
              <a:t>감성 분석 전체 처리 순서</a:t>
            </a:r>
            <a:endParaRPr lang="en-US" altLang="ko-KR" sz="28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8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5-1-1 </a:t>
            </a:r>
            <a:r>
              <a:rPr lang="ko-KR" altLang="en-US" sz="2400" b="1" dirty="0">
                <a:ea typeface="a아시아헤드2" panose="02020600000000000000"/>
              </a:rPr>
              <a:t>문서를 문장 단위로 분해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5-1-2 </a:t>
            </a:r>
            <a:r>
              <a:rPr lang="ko-KR" altLang="en-US" sz="2400" b="1" dirty="0">
                <a:ea typeface="a아시아헤드2" panose="02020600000000000000"/>
              </a:rPr>
              <a:t>문장을 다시 단어 단위로 토큰화 </a:t>
            </a:r>
            <a:r>
              <a:rPr lang="en-US" altLang="ko-KR" sz="2400" b="1" dirty="0">
                <a:ea typeface="a아시아헤드2" panose="02020600000000000000"/>
              </a:rPr>
              <a:t>+ </a:t>
            </a:r>
            <a:r>
              <a:rPr lang="ko-KR" altLang="en-US" sz="2400" b="1" dirty="0">
                <a:ea typeface="a아시아헤드2" panose="02020600000000000000"/>
              </a:rPr>
              <a:t>품사 </a:t>
            </a:r>
            <a:r>
              <a:rPr lang="ko-KR" altLang="en-US" sz="2400" b="1" dirty="0" err="1">
                <a:ea typeface="a아시아헤드2" panose="02020600000000000000"/>
              </a:rPr>
              <a:t>태깅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5-1-3 </a:t>
            </a:r>
            <a:r>
              <a:rPr lang="ko-KR" altLang="en-US" sz="2400" b="1" dirty="0">
                <a:ea typeface="a아시아헤드2" panose="02020600000000000000"/>
              </a:rPr>
              <a:t>각 단어로부터 </a:t>
            </a:r>
            <a:r>
              <a:rPr lang="en-US" altLang="ko-KR" sz="2400" b="1" dirty="0" err="1">
                <a:ea typeface="a아시아헤드2" panose="02020600000000000000"/>
              </a:rPr>
              <a:t>Synset</a:t>
            </a:r>
            <a:r>
              <a:rPr lang="en-US" altLang="ko-KR" sz="2400" b="1" dirty="0">
                <a:ea typeface="a아시아헤드2" panose="02020600000000000000"/>
              </a:rPr>
              <a:t> → </a:t>
            </a:r>
            <a:r>
              <a:rPr lang="en-US" altLang="ko-KR" sz="2400" b="1" dirty="0" err="1">
                <a:ea typeface="a아시아헤드2" panose="02020600000000000000"/>
              </a:rPr>
              <a:t>Senti_Synset</a:t>
            </a:r>
            <a:r>
              <a:rPr lang="en-US" altLang="ko-KR" sz="2400" b="1" dirty="0">
                <a:ea typeface="a아시아헤드2" panose="02020600000000000000"/>
              </a:rPr>
              <a:t> </a:t>
            </a:r>
            <a:r>
              <a:rPr lang="ko-KR" altLang="en-US" sz="2400" b="1" dirty="0">
                <a:ea typeface="a아시아헤드2" panose="02020600000000000000"/>
              </a:rPr>
              <a:t>객체 생성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품사 </a:t>
            </a:r>
            <a:r>
              <a:rPr lang="ko-KR" altLang="en-US" sz="2400" dirty="0" err="1">
                <a:ea typeface="a아시아헤드2" panose="02020600000000000000"/>
              </a:rPr>
              <a:t>태깅된</a:t>
            </a:r>
            <a:r>
              <a:rPr lang="ko-KR" altLang="en-US" sz="2400" dirty="0">
                <a:ea typeface="a아시아헤드2" panose="02020600000000000000"/>
              </a:rPr>
              <a:t> 단어 </a:t>
            </a:r>
            <a:r>
              <a:rPr lang="en-US" altLang="ko-KR" sz="2400" dirty="0">
                <a:ea typeface="a아시아헤드2" panose="02020600000000000000"/>
              </a:rPr>
              <a:t>+ </a:t>
            </a:r>
            <a:r>
              <a:rPr lang="ko-KR" altLang="en-US" sz="2400" dirty="0">
                <a:ea typeface="a아시아헤드2" panose="02020600000000000000"/>
              </a:rPr>
              <a:t>품사 정보를 이용하여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   - WordNet </a:t>
            </a:r>
            <a:r>
              <a:rPr lang="en-US" altLang="ko-KR" sz="2400" dirty="0" err="1">
                <a:ea typeface="a아시아헤드2" panose="02020600000000000000"/>
              </a:rPr>
              <a:t>Synset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추출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 -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senti_synsets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()</a:t>
            </a:r>
            <a:r>
              <a:rPr lang="ko-KR" altLang="en-US" sz="2400" dirty="0">
                <a:ea typeface="a아시아헤드2" panose="02020600000000000000"/>
              </a:rPr>
              <a:t>로 </a:t>
            </a:r>
            <a:r>
              <a:rPr lang="en-US" altLang="ko-KR" sz="2400" dirty="0" err="1">
                <a:ea typeface="a아시아헤드2" panose="02020600000000000000"/>
              </a:rPr>
              <a:t>Senti_Synset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객체 생성</a:t>
            </a:r>
            <a:endParaRPr lang="en-US" altLang="ko-KR" sz="2400" dirty="0">
              <a:ea typeface="a아시아헤드2" panose="02020600000000000000"/>
            </a:endParaRPr>
          </a:p>
          <a:p>
            <a:endParaRPr lang="ko-KR" altLang="en-US" sz="2400" dirty="0">
              <a:ea typeface="a아시아헤드2" panose="02020600000000000000"/>
            </a:endParaRPr>
          </a:p>
          <a:p>
            <a:r>
              <a:rPr lang="ko-KR" altLang="en-US" sz="2400" dirty="0">
                <a:ea typeface="a아시아헤드2" panose="02020600000000000000"/>
              </a:rPr>
              <a:t>만약</a:t>
            </a:r>
            <a:r>
              <a:rPr lang="en-US" altLang="ko-KR" sz="2400" dirty="0">
                <a:ea typeface="a아시아헤드2" panose="02020600000000000000"/>
              </a:rPr>
              <a:t>,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 err="1">
                <a:ea typeface="a아시아헤드2" panose="02020600000000000000"/>
              </a:rPr>
              <a:t>synset</a:t>
            </a:r>
            <a:r>
              <a:rPr lang="ko-KR" altLang="en-US" sz="2400" dirty="0">
                <a:ea typeface="a아시아헤드2" panose="02020600000000000000"/>
              </a:rPr>
              <a:t>이 존재하지 않으면 해당 단어는 감성 점수 계산에서 제외</a:t>
            </a:r>
            <a:endParaRPr lang="en-US" altLang="ko-KR" sz="2400" dirty="0">
              <a:ea typeface="a아시아헤드2" panose="0202060000000000000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5E090-9DF6-9BE1-182A-8AF2E7C77184}"/>
              </a:ext>
            </a:extLst>
          </p:cNvPr>
          <p:cNvSpPr txBox="1"/>
          <p:nvPr/>
        </p:nvSpPr>
        <p:spPr>
          <a:xfrm>
            <a:off x="8501063" y="2267010"/>
            <a:ext cx="92678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>
                <a:ea typeface="a아시아헤드2" panose="02020600000000000000"/>
              </a:rPr>
              <a:t>5-1-4 </a:t>
            </a:r>
            <a:r>
              <a:rPr lang="ko-KR" altLang="en-US" sz="2400" b="1" dirty="0">
                <a:ea typeface="a아시아헤드2" panose="02020600000000000000"/>
              </a:rPr>
              <a:t>각 단어의 감성 점수 추출 후 합산</a:t>
            </a:r>
            <a:endParaRPr lang="en-US" altLang="ko-KR" sz="24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en-US" altLang="ko-KR" sz="2400" dirty="0" err="1">
                <a:ea typeface="a아시아헤드2" panose="02020600000000000000"/>
              </a:rPr>
              <a:t>SentiSynset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객체는 세 가지 점수를 가짐</a:t>
            </a:r>
          </a:p>
          <a:p>
            <a:pPr lvl="1"/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긍정 감성 지수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en-US" altLang="ko-KR" sz="2400" dirty="0" err="1">
                <a:ea typeface="a아시아헤드2" panose="02020600000000000000"/>
              </a:rPr>
              <a:t>pos_score</a:t>
            </a:r>
            <a:r>
              <a:rPr lang="en-US" altLang="ko-KR" sz="2400" dirty="0">
                <a:ea typeface="a아시아헤드2" panose="02020600000000000000"/>
              </a:rPr>
              <a:t>)</a:t>
            </a:r>
          </a:p>
          <a:p>
            <a:pPr lvl="1"/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부정 감성 지수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en-US" altLang="ko-KR" sz="2400" dirty="0" err="1">
                <a:ea typeface="a아시아헤드2" panose="02020600000000000000"/>
              </a:rPr>
              <a:t>neg_score</a:t>
            </a:r>
            <a:r>
              <a:rPr lang="en-US" altLang="ko-KR" sz="2400" dirty="0">
                <a:ea typeface="a아시아헤드2" panose="02020600000000000000"/>
              </a:rPr>
              <a:t>)</a:t>
            </a:r>
          </a:p>
          <a:p>
            <a:pPr marL="800100" lvl="1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객관성 지수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en-US" altLang="ko-KR" sz="2400" dirty="0" err="1">
                <a:ea typeface="a아시아헤드2" panose="02020600000000000000"/>
              </a:rPr>
              <a:t>objective_score</a:t>
            </a:r>
            <a:r>
              <a:rPr lang="en-US" altLang="ko-KR" sz="2400" dirty="0">
                <a:ea typeface="a아시아헤드2" panose="02020600000000000000"/>
              </a:rPr>
              <a:t>)</a:t>
            </a:r>
          </a:p>
          <a:p>
            <a:pPr marL="800100" lvl="1" indent="-342900">
              <a:buFontTx/>
              <a:buChar char="-"/>
            </a:pPr>
            <a:endParaRPr lang="en-US" altLang="ko-KR" sz="2400" dirty="0">
              <a:ea typeface="a아시아헤드2" panose="02020600000000000000"/>
            </a:endParaRPr>
          </a:p>
          <a:p>
            <a:r>
              <a:rPr lang="ko-KR" altLang="en-US" sz="2400" dirty="0">
                <a:ea typeface="a아시아헤드2" panose="02020600000000000000"/>
              </a:rPr>
              <a:t>분석에서는 긍정</a:t>
            </a:r>
            <a:r>
              <a:rPr lang="en-US" altLang="ko-KR" sz="2400" dirty="0">
                <a:ea typeface="a아시아헤드2" panose="02020600000000000000"/>
              </a:rPr>
              <a:t>·</a:t>
            </a:r>
            <a:r>
              <a:rPr lang="ko-KR" altLang="en-US" sz="2400" dirty="0">
                <a:ea typeface="a아시아헤드2" panose="02020600000000000000"/>
              </a:rPr>
              <a:t>부정 감성 점수만 활용</a:t>
            </a:r>
            <a:br>
              <a:rPr lang="ko-KR" altLang="en-US" sz="2400" dirty="0">
                <a:ea typeface="a아시아헤드2" panose="02020600000000000000"/>
              </a:rPr>
            </a:br>
            <a:r>
              <a:rPr lang="ko-KR" altLang="en-US" sz="2400" dirty="0">
                <a:ea typeface="a아시아헤드2" panose="02020600000000000000"/>
              </a:rPr>
              <a:t>→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긍정 점수 </a:t>
            </a:r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부정 점수</a:t>
            </a:r>
            <a:r>
              <a:rPr lang="en-US" altLang="ko-KR" sz="2400" dirty="0">
                <a:ea typeface="a아시아헤드2" panose="02020600000000000000"/>
              </a:rPr>
              <a:t>) </a:t>
            </a:r>
            <a:r>
              <a:rPr lang="ko-KR" altLang="en-US" sz="2400" dirty="0">
                <a:ea typeface="a아시아헤드2" panose="02020600000000000000"/>
              </a:rPr>
              <a:t>또는 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긍정 </a:t>
            </a:r>
            <a:r>
              <a:rPr lang="en-US" altLang="ko-KR" sz="2400" dirty="0">
                <a:ea typeface="a아시아헤드2" panose="02020600000000000000"/>
              </a:rPr>
              <a:t>+ </a:t>
            </a:r>
            <a:r>
              <a:rPr lang="ko-KR" altLang="en-US" sz="2400" dirty="0">
                <a:ea typeface="a아시아헤드2" panose="02020600000000000000"/>
              </a:rPr>
              <a:t>부정</a:t>
            </a:r>
            <a:r>
              <a:rPr lang="en-US" altLang="ko-KR" sz="2400" dirty="0">
                <a:ea typeface="a아시아헤드2" panose="02020600000000000000"/>
              </a:rPr>
              <a:t>) </a:t>
            </a:r>
            <a:r>
              <a:rPr lang="ko-KR" altLang="en-US" sz="2400" dirty="0">
                <a:ea typeface="a아시아헤드2" panose="02020600000000000000"/>
              </a:rPr>
              <a:t>등의 방식으로 합산 </a:t>
            </a:r>
            <a:endParaRPr lang="en-US" altLang="ko-KR" sz="2400" dirty="0">
              <a:ea typeface="a아시아헤드2" panose="02020600000000000000"/>
            </a:endParaRPr>
          </a:p>
          <a:p>
            <a:endParaRPr lang="ko-KR" altLang="en-US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* </a:t>
            </a:r>
            <a:r>
              <a:rPr lang="ko-KR" altLang="en-US" sz="2400" dirty="0">
                <a:ea typeface="a아시아헤드2" panose="02020600000000000000"/>
              </a:rPr>
              <a:t>최종 판단</a:t>
            </a:r>
            <a:r>
              <a:rPr lang="en-US" altLang="ko-KR" sz="2400" dirty="0">
                <a:ea typeface="a아시아헤드2" panose="02020600000000000000"/>
              </a:rPr>
              <a:t>:</a:t>
            </a:r>
          </a:p>
          <a:p>
            <a:pPr lvl="1"/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총 감성 점수 ≥ </a:t>
            </a:r>
            <a:r>
              <a:rPr lang="en-US" altLang="ko-KR" sz="2400" dirty="0">
                <a:ea typeface="a아시아헤드2" panose="02020600000000000000"/>
              </a:rPr>
              <a:t>0 → </a:t>
            </a:r>
            <a:r>
              <a:rPr lang="ko-KR" altLang="en-US" sz="2400" dirty="0">
                <a:ea typeface="a아시아헤드2" panose="02020600000000000000"/>
              </a:rPr>
              <a:t>긍정</a:t>
            </a:r>
            <a:r>
              <a:rPr lang="en-US" altLang="ko-KR" sz="2400" dirty="0">
                <a:ea typeface="a아시아헤드2" panose="02020600000000000000"/>
              </a:rPr>
              <a:t>(1)</a:t>
            </a:r>
            <a:endParaRPr lang="ko-KR" altLang="en-US" sz="2400" dirty="0">
              <a:ea typeface="a아시아헤드2" panose="02020600000000000000"/>
            </a:endParaRPr>
          </a:p>
          <a:p>
            <a:pPr lvl="1"/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총 감성 점수 </a:t>
            </a:r>
            <a:r>
              <a:rPr lang="en-US" altLang="ko-KR" sz="2400" dirty="0">
                <a:ea typeface="a아시아헤드2" panose="02020600000000000000"/>
              </a:rPr>
              <a:t>&lt; 0 → </a:t>
            </a:r>
            <a:r>
              <a:rPr lang="ko-KR" altLang="en-US" sz="2400" dirty="0">
                <a:ea typeface="a아시아헤드2" panose="02020600000000000000"/>
              </a:rPr>
              <a:t>부정</a:t>
            </a:r>
            <a:r>
              <a:rPr lang="en-US" altLang="ko-KR" sz="2400" dirty="0">
                <a:ea typeface="a아시아헤드2" panose="02020600000000000000"/>
              </a:rPr>
              <a:t>(0)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B4609-4281-1171-841E-AA84813849A1}"/>
              </a:ext>
            </a:extLst>
          </p:cNvPr>
          <p:cNvSpPr txBox="1"/>
          <p:nvPr/>
        </p:nvSpPr>
        <p:spPr>
          <a:xfrm>
            <a:off x="8501063" y="7444870"/>
            <a:ext cx="869156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300" dirty="0">
                <a:ea typeface="a아시아헤드2" panose="02020600000000000000"/>
              </a:rPr>
              <a:t>→  </a:t>
            </a:r>
            <a:r>
              <a:rPr lang="ko-KR" altLang="en-US" sz="2300" dirty="0">
                <a:ea typeface="a아시아헤드2" panose="02020600000000000000"/>
              </a:rPr>
              <a:t>이 모든 과정을 자동으로 처리하기 위해</a:t>
            </a:r>
            <a:br>
              <a:rPr lang="ko-KR" altLang="en-US" sz="2300" dirty="0">
                <a:ea typeface="a아시아헤드2" panose="02020600000000000000"/>
              </a:rPr>
            </a:br>
            <a:r>
              <a:rPr lang="ko-KR" altLang="en-US" sz="2300" dirty="0">
                <a:ea typeface="a아시아헤드2" panose="02020600000000000000"/>
              </a:rPr>
              <a:t>품사 </a:t>
            </a:r>
            <a:r>
              <a:rPr lang="ko-KR" altLang="en-US" sz="2300" dirty="0" err="1">
                <a:ea typeface="a아시아헤드2" panose="02020600000000000000"/>
              </a:rPr>
              <a:t>태깅</a:t>
            </a:r>
            <a:r>
              <a:rPr lang="ko-KR" altLang="en-US" sz="2300" dirty="0">
                <a:ea typeface="a아시아헤드2" panose="02020600000000000000"/>
              </a:rPr>
              <a:t> 함수</a:t>
            </a:r>
            <a:r>
              <a:rPr lang="en-US" altLang="ko-KR" sz="2300" dirty="0">
                <a:ea typeface="a아시아헤드2" panose="02020600000000000000"/>
              </a:rPr>
              <a:t>, </a:t>
            </a:r>
            <a:r>
              <a:rPr lang="ko-KR" altLang="en-US" sz="2300" dirty="0">
                <a:ea typeface="a아시아헤드2" panose="02020600000000000000"/>
              </a:rPr>
              <a:t>감성 점수 계산 함수</a:t>
            </a:r>
            <a:r>
              <a:rPr lang="en-US" altLang="ko-KR" sz="2300" dirty="0">
                <a:ea typeface="a아시아헤드2" panose="02020600000000000000"/>
              </a:rPr>
              <a:t>(</a:t>
            </a:r>
            <a:r>
              <a:rPr lang="en-US" altLang="ko-KR" sz="2300" dirty="0" err="1">
                <a:ea typeface="a아시아헤드2" panose="02020600000000000000"/>
              </a:rPr>
              <a:t>swn_polarity</a:t>
            </a:r>
            <a:r>
              <a:rPr lang="en-US" altLang="ko-KR" sz="2300" dirty="0">
                <a:ea typeface="a아시아헤드2" panose="02020600000000000000"/>
              </a:rPr>
              <a:t>)</a:t>
            </a:r>
            <a:r>
              <a:rPr lang="ko-KR" altLang="en-US" sz="2300" dirty="0">
                <a:ea typeface="a아시아헤드2" panose="02020600000000000000"/>
              </a:rPr>
              <a:t>등을 별도로 구현</a:t>
            </a:r>
            <a:endParaRPr lang="en-US" altLang="ko-KR" sz="2300" dirty="0">
              <a:ea typeface="a아시아헤드2" panose="0202060000000000000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CC9421-06E2-5FB9-D971-40216A33E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554" y="7432456"/>
            <a:ext cx="5690672" cy="25873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6AD140-2C7A-8A01-37B7-A43DE3DE40BD}"/>
              </a:ext>
            </a:extLst>
          </p:cNvPr>
          <p:cNvSpPr txBox="1"/>
          <p:nvPr/>
        </p:nvSpPr>
        <p:spPr>
          <a:xfrm>
            <a:off x="2495550" y="6909236"/>
            <a:ext cx="9267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#5-2 </a:t>
            </a:r>
            <a:r>
              <a:rPr lang="ko-KR" altLang="en-US" sz="2800" b="1" dirty="0">
                <a:ea typeface="a아시아헤드2" panose="02020600000000000000"/>
              </a:rPr>
              <a:t>품사 </a:t>
            </a:r>
            <a:r>
              <a:rPr lang="ko-KR" altLang="en-US" sz="2800" b="1" dirty="0" err="1">
                <a:ea typeface="a아시아헤드2" panose="02020600000000000000"/>
              </a:rPr>
              <a:t>태깅</a:t>
            </a:r>
            <a:r>
              <a:rPr lang="ko-KR" altLang="en-US" sz="2800" b="1" dirty="0">
                <a:ea typeface="a아시아헤드2" panose="02020600000000000000"/>
              </a:rPr>
              <a:t> 변환 함수</a:t>
            </a:r>
            <a:endParaRPr lang="en-US" altLang="ko-KR" sz="2800" b="1" dirty="0">
              <a:ea typeface="a아시아헤드2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722085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153F-B64F-2CA0-699C-D2F7D302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704F17C8-73FF-69BD-D4BB-B277CB51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FC9911-7AEE-5FC2-A286-6C1E7A72956F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5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en-US" altLang="ko-KR" sz="4800" b="1" dirty="0" err="1"/>
              <a:t>SentiWordNet</a:t>
            </a:r>
            <a:r>
              <a:rPr lang="ko-KR" altLang="en-US" sz="4800" b="1" dirty="0"/>
              <a:t>을 이용한 영화 </a:t>
            </a:r>
            <a:r>
              <a:rPr lang="ko-KR" altLang="en-US" sz="4800" b="1" dirty="0" err="1"/>
              <a:t>감상평</a:t>
            </a:r>
            <a:r>
              <a:rPr lang="ko-KR" altLang="en-US" sz="4800" b="1" dirty="0"/>
              <a:t>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4CEC65-92E4-3558-3856-8E074EAD1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34" y="1614529"/>
            <a:ext cx="6211167" cy="57539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5E9CAC-91A2-0E3B-0ED6-541DDD33A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792" y="1614528"/>
            <a:ext cx="6973273" cy="5753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22DE70-E00D-6C3C-96F5-335A22DC5CC2}"/>
              </a:ext>
            </a:extLst>
          </p:cNvPr>
          <p:cNvSpPr txBox="1"/>
          <p:nvPr/>
        </p:nvSpPr>
        <p:spPr>
          <a:xfrm>
            <a:off x="11478750" y="5767190"/>
            <a:ext cx="60132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#5-3. </a:t>
            </a:r>
            <a:r>
              <a:rPr lang="en-US" altLang="ko-KR" sz="2800" b="1" dirty="0" err="1">
                <a:ea typeface="a아시아헤드2" panose="02020600000000000000"/>
              </a:rPr>
              <a:t>swn_polarity</a:t>
            </a:r>
            <a:r>
              <a:rPr lang="en-US" altLang="ko-KR" sz="2800" b="1" dirty="0">
                <a:ea typeface="a아시아헤드2" panose="02020600000000000000"/>
              </a:rPr>
              <a:t>(text) </a:t>
            </a:r>
            <a:r>
              <a:rPr lang="ko-KR" altLang="en-US" sz="2800" b="1" dirty="0">
                <a:ea typeface="a아시아헤드2" panose="02020600000000000000"/>
              </a:rPr>
              <a:t>함수 작성</a:t>
            </a:r>
            <a:endParaRPr lang="en-US" altLang="ko-KR" sz="28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800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b="1" dirty="0" err="1">
                <a:ea typeface="a아시아헤드2" panose="02020600000000000000"/>
              </a:rPr>
              <a:t>swn_polarity</a:t>
            </a:r>
            <a:r>
              <a:rPr lang="en-US" altLang="ko-KR" sz="2400" b="1" dirty="0">
                <a:ea typeface="a아시아헤드2" panose="02020600000000000000"/>
              </a:rPr>
              <a:t>(text) </a:t>
            </a:r>
            <a:r>
              <a:rPr lang="ko-KR" altLang="en-US" sz="2400" b="1" dirty="0">
                <a:ea typeface="a아시아헤드2" panose="02020600000000000000"/>
              </a:rPr>
              <a:t>함수 역할</a:t>
            </a:r>
            <a:endParaRPr lang="en-US" altLang="ko-KR" sz="2400" b="1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문서 → 문장 단위로 분해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문장 → 단어 단위 토큰화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단어 → 품사 </a:t>
            </a:r>
            <a:r>
              <a:rPr lang="ko-KR" altLang="en-US" sz="2400" dirty="0" err="1">
                <a:ea typeface="a아시아헤드2" panose="02020600000000000000"/>
              </a:rPr>
              <a:t>태깅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품사 기반 </a:t>
            </a:r>
            <a:r>
              <a:rPr lang="en-US" altLang="ko-KR" sz="2400" dirty="0" err="1">
                <a:ea typeface="a아시아헤드2" panose="02020600000000000000"/>
              </a:rPr>
              <a:t>Synset</a:t>
            </a:r>
            <a:r>
              <a:rPr lang="en-US" altLang="ko-KR" sz="2400" dirty="0">
                <a:ea typeface="a아시아헤드2" panose="02020600000000000000"/>
              </a:rPr>
              <a:t>/</a:t>
            </a:r>
            <a:r>
              <a:rPr lang="en-US" altLang="ko-KR" sz="2400" dirty="0" err="1">
                <a:ea typeface="a아시아헤드2" panose="02020600000000000000"/>
              </a:rPr>
              <a:t>SentiSynset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생성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긍정</a:t>
            </a:r>
            <a:r>
              <a:rPr lang="en-US" altLang="ko-KR" sz="2400" dirty="0">
                <a:ea typeface="a아시아헤드2" panose="02020600000000000000"/>
              </a:rPr>
              <a:t>/</a:t>
            </a:r>
            <a:r>
              <a:rPr lang="ko-KR" altLang="en-US" sz="2400" dirty="0">
                <a:ea typeface="a아시아헤드2" panose="02020600000000000000"/>
              </a:rPr>
              <a:t>부정 점수 누적</a:t>
            </a: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점수 합산 후 감성 레이블 반환</a:t>
            </a:r>
            <a:endParaRPr lang="en-US" altLang="ko-KR" sz="2400" dirty="0">
              <a:ea typeface="a아시아헤드2" panose="0202060000000000000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AFA4D-7DC6-6E79-ED0B-F55451DCCFC7}"/>
              </a:ext>
            </a:extLst>
          </p:cNvPr>
          <p:cNvSpPr txBox="1"/>
          <p:nvPr/>
        </p:nvSpPr>
        <p:spPr>
          <a:xfrm>
            <a:off x="6727792" y="8572369"/>
            <a:ext cx="4557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ea typeface="a아시아헤드2" panose="02020600000000000000"/>
              </a:rPr>
              <a:t>* </a:t>
            </a:r>
            <a:r>
              <a:rPr lang="ko-KR" altLang="en-US" sz="2400" dirty="0">
                <a:ea typeface="a아시아헤드2" panose="02020600000000000000"/>
              </a:rPr>
              <a:t>최종 판단</a:t>
            </a:r>
            <a:r>
              <a:rPr lang="en-US" altLang="ko-KR" sz="2400" dirty="0">
                <a:ea typeface="a아시아헤드2" panose="02020600000000000000"/>
              </a:rPr>
              <a:t>:</a:t>
            </a:r>
          </a:p>
          <a:p>
            <a:pPr lvl="1"/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총 감성 점수 ≥ </a:t>
            </a:r>
            <a:r>
              <a:rPr lang="en-US" altLang="ko-KR" sz="2400" dirty="0">
                <a:ea typeface="a아시아헤드2" panose="02020600000000000000"/>
              </a:rPr>
              <a:t>0 → </a:t>
            </a:r>
            <a:r>
              <a:rPr lang="ko-KR" altLang="en-US" sz="2400" dirty="0">
                <a:ea typeface="a아시아헤드2" panose="02020600000000000000"/>
              </a:rPr>
              <a:t>긍정</a:t>
            </a:r>
            <a:r>
              <a:rPr lang="en-US" altLang="ko-KR" sz="2400" dirty="0">
                <a:ea typeface="a아시아헤드2" panose="02020600000000000000"/>
              </a:rPr>
              <a:t>(1)</a:t>
            </a:r>
            <a:endParaRPr lang="ko-KR" altLang="en-US" sz="2400" dirty="0">
              <a:ea typeface="a아시아헤드2" panose="02020600000000000000"/>
            </a:endParaRPr>
          </a:p>
          <a:p>
            <a:pPr lvl="1"/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총 감성 점수 </a:t>
            </a:r>
            <a:r>
              <a:rPr lang="en-US" altLang="ko-KR" sz="2400" dirty="0">
                <a:ea typeface="a아시아헤드2" panose="02020600000000000000"/>
              </a:rPr>
              <a:t>&lt; 0 → </a:t>
            </a:r>
            <a:r>
              <a:rPr lang="ko-KR" altLang="en-US" sz="2400" dirty="0">
                <a:ea typeface="a아시아헤드2" panose="02020600000000000000"/>
              </a:rPr>
              <a:t>부정</a:t>
            </a:r>
            <a:r>
              <a:rPr lang="en-US" altLang="ko-KR" sz="2400" dirty="0">
                <a:ea typeface="a아시아헤드2" panose="02020600000000000000"/>
              </a:rPr>
              <a:t>(0)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7475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BE681-CAA3-1FFE-D638-BC55D310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2CB7CC78-892F-0E38-1C6D-152458FF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0BA98B-D8E1-0979-DE52-120DF70F236A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5</a:t>
            </a:r>
            <a:r>
              <a:rPr lang="en-US" altLang="ko-KR" sz="4800" b="1" dirty="0">
                <a:ea typeface="a아시아헤드2"/>
                <a:cs typeface="+mn-lt"/>
              </a:rPr>
              <a:t> </a:t>
            </a:r>
            <a:r>
              <a:rPr lang="en-US" altLang="ko-KR" sz="4800" b="1" dirty="0" err="1"/>
              <a:t>SentiWordNet</a:t>
            </a:r>
            <a:r>
              <a:rPr lang="ko-KR" altLang="en-US" sz="4800" b="1" dirty="0"/>
              <a:t>을 이용한 영화 </a:t>
            </a:r>
            <a:r>
              <a:rPr lang="ko-KR" altLang="en-US" sz="4800" b="1" dirty="0" err="1"/>
              <a:t>감상평</a:t>
            </a:r>
            <a:r>
              <a:rPr lang="ko-KR" altLang="en-US" sz="4800" b="1" dirty="0"/>
              <a:t> 감성 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CE35D5-742C-2849-2FED-0AA453E94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63" y="1710284"/>
            <a:ext cx="7760212" cy="5719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3C0315-E9D8-66E4-4F4D-A658EA9F85BC}"/>
              </a:ext>
            </a:extLst>
          </p:cNvPr>
          <p:cNvSpPr txBox="1"/>
          <p:nvPr/>
        </p:nvSpPr>
        <p:spPr>
          <a:xfrm>
            <a:off x="8409668" y="1710285"/>
            <a:ext cx="8716282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#5-5. </a:t>
            </a:r>
            <a:r>
              <a:rPr lang="en-US" altLang="ko-KR" sz="2800" b="1" dirty="0" err="1">
                <a:ea typeface="a아시아헤드2" panose="02020600000000000000"/>
              </a:rPr>
              <a:t>SentiWordNet</a:t>
            </a:r>
            <a:r>
              <a:rPr lang="en-US" altLang="ko-KR" sz="2800" b="1" dirty="0">
                <a:ea typeface="a아시아헤드2" panose="02020600000000000000"/>
              </a:rPr>
              <a:t> </a:t>
            </a:r>
            <a:r>
              <a:rPr lang="ko-KR" altLang="en-US" sz="2800" b="1" dirty="0">
                <a:ea typeface="a아시아헤드2" panose="02020600000000000000"/>
              </a:rPr>
              <a:t>감성 분석 결과 평가</a:t>
            </a:r>
            <a:endParaRPr lang="en-US" altLang="ko-KR" sz="28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400" b="1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실제 정답 레이블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review_df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[‘sentiment’]</a:t>
            </a:r>
            <a:endParaRPr lang="ko-KR" altLang="en-US" sz="24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예측 레이블</a:t>
            </a:r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review_df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[‘preds’]</a:t>
            </a:r>
          </a:p>
          <a:p>
            <a:endParaRPr lang="ko-KR" altLang="en-US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400" dirty="0">
                <a:ea typeface="a아시아헤드2" panose="02020600000000000000"/>
              </a:rPr>
              <a:t>* </a:t>
            </a:r>
            <a:r>
              <a:rPr lang="ko-KR" altLang="en-US" sz="2400" dirty="0" err="1">
                <a:ea typeface="a아시아헤드2" panose="02020600000000000000"/>
              </a:rPr>
              <a:t>출력값</a:t>
            </a: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정확도</a:t>
            </a:r>
            <a:r>
              <a:rPr lang="en-US" altLang="ko-KR" sz="2400" dirty="0">
                <a:ea typeface="a아시아헤드2" panose="02020600000000000000"/>
              </a:rPr>
              <a:t>(Accuracy)</a:t>
            </a:r>
          </a:p>
          <a:p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>
                <a:ea typeface="a아시아헤드2" panose="02020600000000000000"/>
              </a:rPr>
              <a:t>정밀도</a:t>
            </a:r>
            <a:r>
              <a:rPr lang="en-US" altLang="ko-KR" sz="2400" dirty="0">
                <a:ea typeface="a아시아헤드2" panose="02020600000000000000"/>
              </a:rPr>
              <a:t>(Precision)</a:t>
            </a:r>
          </a:p>
          <a:p>
            <a:r>
              <a:rPr lang="en-US" altLang="ko-KR" sz="2400" dirty="0">
                <a:ea typeface="a아시아헤드2" panose="02020600000000000000"/>
              </a:rPr>
              <a:t>- </a:t>
            </a:r>
            <a:r>
              <a:rPr lang="ko-KR" altLang="en-US" sz="2400" dirty="0" err="1">
                <a:ea typeface="a아시아헤드2" panose="02020600000000000000"/>
              </a:rPr>
              <a:t>재현율</a:t>
            </a:r>
            <a:r>
              <a:rPr lang="en-US" altLang="ko-KR" sz="2400" dirty="0">
                <a:ea typeface="a아시아헤드2" panose="02020600000000000000"/>
              </a:rPr>
              <a:t>(Recall)</a:t>
            </a:r>
          </a:p>
          <a:p>
            <a:pPr>
              <a:buNone/>
            </a:pPr>
            <a:br>
              <a:rPr lang="en-US" altLang="ko-KR" sz="2400" dirty="0">
                <a:ea typeface="a아시아헤드2" panose="02020600000000000000"/>
              </a:rPr>
            </a:br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#5-6. </a:t>
            </a:r>
            <a:r>
              <a:rPr lang="en-US" altLang="ko-KR" sz="2800" b="1" dirty="0" err="1">
                <a:ea typeface="a아시아헤드2" panose="02020600000000000000"/>
              </a:rPr>
              <a:t>SentiWordNet</a:t>
            </a:r>
            <a:r>
              <a:rPr lang="en-US" altLang="ko-KR" sz="2800" b="1" dirty="0">
                <a:ea typeface="a아시아헤드2" panose="02020600000000000000"/>
              </a:rPr>
              <a:t> </a:t>
            </a:r>
            <a:r>
              <a:rPr lang="ko-KR" altLang="en-US" sz="2800" b="1" dirty="0">
                <a:ea typeface="a아시아헤드2" panose="02020600000000000000"/>
              </a:rPr>
              <a:t>감성 분석 성능 결과</a:t>
            </a:r>
          </a:p>
          <a:p>
            <a:pPr>
              <a:buNone/>
            </a:pPr>
            <a:endParaRPr lang="en-US" altLang="ko-KR" sz="24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ea typeface="a아시아헤드2" panose="02020600000000000000"/>
              </a:rPr>
              <a:t>정확도 </a:t>
            </a:r>
            <a:r>
              <a:rPr lang="en-US" altLang="ko-KR" sz="2400" dirty="0">
                <a:ea typeface="a아시아헤드2" panose="02020600000000000000"/>
              </a:rPr>
              <a:t>Accuracy ≈ 61%</a:t>
            </a:r>
          </a:p>
          <a:p>
            <a:pPr marL="342900" indent="-342900">
              <a:buFontTx/>
              <a:buChar char="-"/>
            </a:pPr>
            <a:r>
              <a:rPr lang="ko-KR" altLang="en-US" sz="2400" dirty="0" err="1">
                <a:ea typeface="a아시아헤드2" panose="02020600000000000000"/>
              </a:rPr>
              <a:t>재현율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>
                <a:ea typeface="a아시아헤드2" panose="02020600000000000000"/>
              </a:rPr>
              <a:t>Recall </a:t>
            </a:r>
            <a:r>
              <a:rPr lang="en-US" altLang="ko-KR" sz="2400">
                <a:ea typeface="a아시아헤드2" panose="02020600000000000000"/>
              </a:rPr>
              <a:t>≈ 89%</a:t>
            </a:r>
            <a:endParaRPr lang="en-US" altLang="ko-KR" sz="2400" dirty="0">
              <a:ea typeface="a아시아헤드2" panose="02020600000000000000"/>
            </a:endParaRPr>
          </a:p>
          <a:p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ko-KR" altLang="en-US" sz="2400" dirty="0">
                <a:ea typeface="a아시아헤드2" panose="02020600000000000000"/>
              </a:rPr>
              <a:t>→ 전반적인 성능은 만족스럽지 않음</a:t>
            </a:r>
          </a:p>
          <a:p>
            <a:pPr>
              <a:buNone/>
            </a:pPr>
            <a:r>
              <a:rPr lang="ko-KR" altLang="en-US" sz="2400" dirty="0">
                <a:ea typeface="a아시아헤드2" panose="02020600000000000000"/>
              </a:rPr>
              <a:t>→ 즉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en-US" altLang="ko-KR" sz="2400" dirty="0" err="1">
                <a:ea typeface="a아시아헤드2" panose="02020600000000000000"/>
              </a:rPr>
              <a:t>SentiWordNet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기반 분석은 지도학습보다 성능이 떨어짐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r>
              <a:rPr lang="ko-KR" altLang="en-US" sz="2400" dirty="0">
                <a:ea typeface="a아시아헤드2" panose="02020600000000000000"/>
              </a:rPr>
              <a:t>→ </a:t>
            </a:r>
            <a:r>
              <a:rPr lang="en-US" altLang="ko-KR" sz="2400" dirty="0" err="1">
                <a:ea typeface="a아시아헤드2" panose="02020600000000000000"/>
              </a:rPr>
              <a:t>SentiWordNet</a:t>
            </a:r>
            <a:r>
              <a:rPr lang="ko-KR" altLang="en-US" sz="2400" dirty="0">
                <a:ea typeface="a아시아헤드2" panose="02020600000000000000"/>
              </a:rPr>
              <a:t>은 </a:t>
            </a:r>
            <a:r>
              <a:rPr lang="en-US" altLang="ko-KR" sz="2400" dirty="0">
                <a:ea typeface="a아시아헤드2" panose="02020600000000000000"/>
              </a:rPr>
              <a:t>WordNet </a:t>
            </a:r>
            <a:r>
              <a:rPr lang="ko-KR" altLang="en-US" sz="2400" dirty="0">
                <a:ea typeface="a아시아헤드2" panose="02020600000000000000"/>
              </a:rPr>
              <a:t>기반 </a:t>
            </a:r>
            <a:r>
              <a:rPr lang="ko-KR" altLang="en-US" sz="2400" dirty="0" err="1">
                <a:ea typeface="a아시아헤드2" panose="02020600000000000000"/>
              </a:rPr>
              <a:t>시맨틱</a:t>
            </a:r>
            <a:r>
              <a:rPr lang="ko-KR" altLang="en-US" sz="2400" dirty="0">
                <a:ea typeface="a아시아헤드2" panose="02020600000000000000"/>
              </a:rPr>
              <a:t> 감성 사전이라는 장점이 있지만 실전 감성 분석 성능이 낮음</a:t>
            </a:r>
            <a:r>
              <a:rPr lang="en-US" altLang="ko-KR" sz="2400" dirty="0">
                <a:ea typeface="a아시아헤드2" panose="02020600000000000000"/>
              </a:rPr>
              <a:t>.</a:t>
            </a:r>
            <a:endParaRPr lang="ko-KR" altLang="en-US" sz="2400" dirty="0">
              <a:ea typeface="a아시아헤드2" panose="0202060000000000000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924B7-EF06-CF69-BFA0-D3F0603231BD}"/>
              </a:ext>
            </a:extLst>
          </p:cNvPr>
          <p:cNvSpPr txBox="1"/>
          <p:nvPr/>
        </p:nvSpPr>
        <p:spPr>
          <a:xfrm>
            <a:off x="366797" y="7727178"/>
            <a:ext cx="743794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#5-4. IMDB </a:t>
            </a:r>
            <a:r>
              <a:rPr lang="ko-KR" altLang="en-US" sz="2800" b="1" dirty="0" err="1">
                <a:ea typeface="a아시아헤드2" panose="02020600000000000000"/>
              </a:rPr>
              <a:t>감상평</a:t>
            </a:r>
            <a:r>
              <a:rPr lang="en-US" altLang="ko-KR" sz="2800" b="1" dirty="0">
                <a:ea typeface="a아시아헤드2" panose="02020600000000000000"/>
              </a:rPr>
              <a:t>(</a:t>
            </a:r>
            <a:r>
              <a:rPr lang="en-US" altLang="ko-KR" sz="2800" b="1" dirty="0" err="1">
                <a:ea typeface="a아시아헤드2" panose="02020600000000000000"/>
              </a:rPr>
              <a:t>review_df</a:t>
            </a:r>
            <a:r>
              <a:rPr lang="en-US" altLang="ko-KR" sz="2800" b="1" dirty="0">
                <a:ea typeface="a아시아헤드2" panose="02020600000000000000"/>
              </a:rPr>
              <a:t>)</a:t>
            </a:r>
            <a:r>
              <a:rPr lang="ko-KR" altLang="en-US" sz="2800" b="1" dirty="0">
                <a:ea typeface="a아시아헤드2" panose="02020600000000000000"/>
              </a:rPr>
              <a:t>에 적용</a:t>
            </a:r>
            <a:endParaRPr lang="en-US" altLang="ko-KR" sz="28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지도학습 기반 감성 분석에서 사용했던 </a:t>
            </a:r>
            <a:r>
              <a:rPr lang="en-US" altLang="ko-KR" sz="2400" dirty="0" err="1">
                <a:latin typeface="Courier New" panose="02070309020205020404" pitchFamily="49" charset="0"/>
                <a:ea typeface="a아시아헤드2" panose="02020600000000000000"/>
              </a:rPr>
              <a:t>review_df</a:t>
            </a:r>
            <a:r>
              <a:rPr lang="ko-KR" altLang="en-US" sz="2400" dirty="0">
                <a:ea typeface="a아시아헤드2" panose="02020600000000000000"/>
              </a:rPr>
              <a:t> </a:t>
            </a:r>
            <a:r>
              <a:rPr lang="en-US" altLang="ko-KR" sz="2400" dirty="0" err="1">
                <a:ea typeface="a아시아헤드2" panose="02020600000000000000"/>
              </a:rPr>
              <a:t>DataFrame</a:t>
            </a:r>
            <a:r>
              <a:rPr lang="en-US" altLang="ko-KR" sz="2400" dirty="0">
                <a:ea typeface="a아시아헤드2" panose="02020600000000000000"/>
              </a:rPr>
              <a:t> </a:t>
            </a:r>
            <a:r>
              <a:rPr lang="ko-KR" altLang="en-US" sz="2400" dirty="0">
                <a:ea typeface="a아시아헤드2" panose="02020600000000000000"/>
              </a:rPr>
              <a:t>그대로 사용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새로운 컬럼 </a:t>
            </a:r>
            <a:r>
              <a:rPr lang="en-US" altLang="ko-KR" sz="2400" dirty="0">
                <a:latin typeface="Courier New" panose="02070309020205020404" pitchFamily="49" charset="0"/>
                <a:ea typeface="a아시아헤드2" panose="02020600000000000000"/>
              </a:rPr>
              <a:t>'preds </a:t>
            </a:r>
            <a:r>
              <a:rPr lang="ko-KR" altLang="en-US" sz="2400" dirty="0">
                <a:ea typeface="a아시아헤드2" panose="02020600000000000000"/>
              </a:rPr>
              <a:t>추가</a:t>
            </a:r>
            <a:endParaRPr lang="en-US" altLang="ko-KR" sz="2400" dirty="0">
              <a:ea typeface="a아시아헤드2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086722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733A-89EA-4D84-8155-ABBBAFC1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8CDBB960-180C-B467-F626-0BEFFAE9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137972-BDEA-75B1-B9BE-A78109747A13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6 </a:t>
            </a:r>
            <a:r>
              <a:rPr lang="en-US" altLang="ko-KR" sz="4800" b="1" dirty="0"/>
              <a:t>VADER</a:t>
            </a:r>
            <a:r>
              <a:rPr lang="ko-KR" altLang="en-US" sz="4800" b="1" dirty="0"/>
              <a:t>를 이용한 감성분석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02CD5-CC77-C685-B127-C3740EACF715}"/>
              </a:ext>
            </a:extLst>
          </p:cNvPr>
          <p:cNvSpPr txBox="1"/>
          <p:nvPr/>
        </p:nvSpPr>
        <p:spPr>
          <a:xfrm>
            <a:off x="331554" y="1605046"/>
            <a:ext cx="809128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#6-1. VADER</a:t>
            </a:r>
            <a:r>
              <a:rPr lang="ko-KR" altLang="en-US" sz="2800" b="1" dirty="0">
                <a:ea typeface="a아시아헤드2" panose="02020600000000000000"/>
              </a:rPr>
              <a:t>를 이용한 감성 분석 개요</a:t>
            </a:r>
            <a:endParaRPr lang="en-US" altLang="ko-KR" sz="28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400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6-1-1. VADER Lexicon</a:t>
            </a: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소셜 미디어 텍스트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트위터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댓글 등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의 감성 분석을 위해 만든 룰 기반</a:t>
            </a:r>
            <a:r>
              <a:rPr lang="en-US" altLang="ko-KR" sz="2400" dirty="0">
                <a:ea typeface="a아시아헤드2" panose="02020600000000000000"/>
              </a:rPr>
              <a:t> Lexicon.</a:t>
            </a: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감성 단어 리스트 </a:t>
            </a:r>
            <a:r>
              <a:rPr lang="en-US" altLang="ko-KR" sz="2400" dirty="0">
                <a:ea typeface="a아시아헤드2" panose="02020600000000000000"/>
              </a:rPr>
              <a:t>+ </a:t>
            </a:r>
            <a:r>
              <a:rPr lang="ko-KR" altLang="en-US" sz="2400" dirty="0">
                <a:ea typeface="a아시아헤드2" panose="02020600000000000000"/>
              </a:rPr>
              <a:t>규칙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대문자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느낌표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부정어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 err="1">
                <a:ea typeface="a아시아헤드2" panose="02020600000000000000"/>
              </a:rPr>
              <a:t>이모지</a:t>
            </a:r>
            <a:r>
              <a:rPr lang="ko-KR" altLang="en-US" sz="2400" dirty="0">
                <a:ea typeface="a아시아헤드2" panose="02020600000000000000"/>
              </a:rPr>
              <a:t> 등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을 활용해 감성 점수를 계산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  <a:p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b="1" dirty="0">
                <a:ea typeface="a아시아헤드2" panose="02020600000000000000"/>
              </a:rPr>
              <a:t>6-1-2 </a:t>
            </a:r>
            <a:r>
              <a:rPr lang="ko-KR" altLang="en-US" sz="2400" b="1" dirty="0">
                <a:ea typeface="a아시아헤드2" panose="02020600000000000000"/>
              </a:rPr>
              <a:t>장점</a:t>
            </a:r>
            <a:endParaRPr lang="en-US" altLang="ko-KR" sz="2400" b="1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: </a:t>
            </a:r>
            <a:r>
              <a:rPr lang="ko-KR" altLang="en-US" sz="2400" dirty="0">
                <a:ea typeface="a아시아헤드2" panose="02020600000000000000"/>
              </a:rPr>
              <a:t>구현이 간단하고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속도가 빠르며</a:t>
            </a:r>
            <a:r>
              <a:rPr lang="en-US" altLang="ko-KR" sz="2400" dirty="0">
                <a:ea typeface="a아시아헤드2" panose="02020600000000000000"/>
              </a:rPr>
              <a:t>,</a:t>
            </a:r>
          </a:p>
          <a:p>
            <a:r>
              <a:rPr lang="en-US" altLang="ko-KR" sz="2400" dirty="0">
                <a:ea typeface="a아시아헤드2" panose="02020600000000000000"/>
              </a:rPr>
              <a:t>   </a:t>
            </a:r>
            <a:r>
              <a:rPr lang="ko-KR" altLang="en-US" sz="2400" dirty="0">
                <a:ea typeface="a아시아헤드2" panose="02020600000000000000"/>
              </a:rPr>
              <a:t>특히 짧은 문장</a:t>
            </a:r>
            <a:r>
              <a:rPr lang="en-US" altLang="ko-KR" sz="2400" dirty="0">
                <a:ea typeface="a아시아헤드2" panose="02020600000000000000"/>
              </a:rPr>
              <a:t>, </a:t>
            </a:r>
            <a:r>
              <a:rPr lang="ko-KR" altLang="en-US" sz="2400" dirty="0">
                <a:ea typeface="a아시아헤드2" panose="02020600000000000000"/>
              </a:rPr>
              <a:t>소셜 미디어에 특화된 감성 분석 성능이 좋음</a:t>
            </a:r>
            <a:r>
              <a:rPr lang="en-US" altLang="ko-KR" sz="2400" dirty="0">
                <a:ea typeface="a아시아헤드2" panose="0202060000000000000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94BCA-6137-8A00-D72F-E0F856487A4C}"/>
              </a:ext>
            </a:extLst>
          </p:cNvPr>
          <p:cNvSpPr txBox="1"/>
          <p:nvPr/>
        </p:nvSpPr>
        <p:spPr>
          <a:xfrm>
            <a:off x="8735323" y="1607701"/>
            <a:ext cx="8409677" cy="8340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ea typeface="a아시아헤드2" panose="02020600000000000000"/>
              </a:rPr>
              <a:t>#6-2 VADER</a:t>
            </a:r>
          </a:p>
          <a:p>
            <a:pPr>
              <a:buNone/>
            </a:pPr>
            <a:endParaRPr lang="en-US" altLang="ko-KR" sz="24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6-2-1. </a:t>
            </a:r>
            <a:r>
              <a:rPr lang="ko-KR" altLang="en-US" sz="2200" b="1" dirty="0">
                <a:ea typeface="a아시아헤드2" panose="02020600000000000000"/>
              </a:rPr>
              <a:t>분석기 객체 생성</a:t>
            </a:r>
            <a:endParaRPr lang="en-US" altLang="ko-KR" sz="2200" b="1" dirty="0">
              <a:ea typeface="a아시아헤드2" panose="02020600000000000000"/>
            </a:endParaRPr>
          </a:p>
          <a:p>
            <a:pPr>
              <a:buNone/>
            </a:pPr>
            <a:endParaRPr lang="ko-KR" altLang="en-US" sz="2200" b="1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6-2-2. </a:t>
            </a:r>
            <a:r>
              <a:rPr lang="ko-KR" altLang="en-US" sz="2200" b="1" dirty="0">
                <a:ea typeface="a아시아헤드2" panose="02020600000000000000"/>
              </a:rPr>
              <a:t>문장 하나에 대해 감성 점수 구하기</a:t>
            </a:r>
          </a:p>
          <a:p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: </a:t>
            </a: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polarity_scores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()</a:t>
            </a:r>
            <a:r>
              <a:rPr lang="ko-KR" altLang="en-US" sz="2200" dirty="0">
                <a:ea typeface="a아시아헤드2" panose="02020600000000000000"/>
              </a:rPr>
              <a:t>는 </a:t>
            </a:r>
            <a:r>
              <a:rPr lang="ko-KR" altLang="en-US" sz="2200" dirty="0" err="1">
                <a:ea typeface="a아시아헤드2" panose="02020600000000000000"/>
              </a:rPr>
              <a:t>딕셔너리</a:t>
            </a:r>
            <a:r>
              <a:rPr lang="ko-KR" altLang="en-US" sz="2200" dirty="0">
                <a:ea typeface="a아시아헤드2" panose="02020600000000000000"/>
              </a:rPr>
              <a:t> 형태를 반환</a:t>
            </a:r>
            <a:r>
              <a:rPr lang="en-US" altLang="ko-KR" sz="2200" dirty="0">
                <a:ea typeface="a아시아헤드2" panose="02020600000000000000"/>
              </a:rPr>
              <a:t>.</a:t>
            </a:r>
          </a:p>
          <a:p>
            <a:pPr>
              <a:buNone/>
            </a:pPr>
            <a:br>
              <a:rPr lang="en-US" altLang="ko-KR" sz="2200" dirty="0">
                <a:ea typeface="a아시아헤드2" panose="02020600000000000000"/>
              </a:rPr>
            </a:br>
            <a:r>
              <a:rPr lang="en-US" altLang="ko-KR" sz="2200" b="1" dirty="0">
                <a:ea typeface="a아시아헤드2" panose="02020600000000000000"/>
              </a:rPr>
              <a:t>6-2-3.  </a:t>
            </a:r>
            <a:r>
              <a:rPr lang="en-US" altLang="ko-KR" sz="2200" b="1" dirty="0" err="1">
                <a:ea typeface="a아시아헤드2" panose="02020600000000000000"/>
              </a:rPr>
              <a:t>polarity_scores</a:t>
            </a:r>
            <a:r>
              <a:rPr lang="en-US" altLang="ko-KR" sz="2200" b="1" dirty="0">
                <a:ea typeface="a아시아헤드2" panose="02020600000000000000"/>
              </a:rPr>
              <a:t>() </a:t>
            </a:r>
            <a:r>
              <a:rPr lang="ko-KR" altLang="en-US" sz="2200" b="1" dirty="0" err="1">
                <a:ea typeface="a아시아헤드2" panose="02020600000000000000"/>
              </a:rPr>
              <a:t>반환값</a:t>
            </a:r>
            <a:r>
              <a:rPr lang="ko-KR" altLang="en-US" sz="2200" b="1" dirty="0">
                <a:ea typeface="a아시아헤드2" panose="02020600000000000000"/>
              </a:rPr>
              <a:t> 구조</a:t>
            </a:r>
          </a:p>
          <a:p>
            <a:pPr>
              <a:buNone/>
            </a:pP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polarity_scores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(text)</a:t>
            </a:r>
            <a:r>
              <a:rPr lang="ko-KR" altLang="en-US" sz="2200" dirty="0">
                <a:ea typeface="a아시아헤드2" panose="02020600000000000000"/>
              </a:rPr>
              <a:t>의 키 값</a:t>
            </a:r>
            <a:endParaRPr lang="en-US" altLang="ko-KR" sz="22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'neg'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부정 감성 지수</a:t>
            </a:r>
            <a:endParaRPr lang="en-US" altLang="ko-KR" sz="22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'neu'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중립 감성 지수</a:t>
            </a:r>
            <a:endParaRPr lang="en-US" altLang="ko-KR" sz="22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'</a:t>
            </a:r>
            <a:r>
              <a:rPr lang="en-US" altLang="ko-KR" sz="2200" dirty="0" err="1">
                <a:latin typeface="Courier New" panose="02070309020205020404" pitchFamily="49" charset="0"/>
                <a:ea typeface="a아시아헤드2" panose="02020600000000000000"/>
              </a:rPr>
              <a:t>pos'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긍정 감성 지수</a:t>
            </a:r>
            <a:endParaRPr lang="en-US" altLang="ko-KR" sz="2200" dirty="0">
              <a:ea typeface="a아시아헤드2" panose="02020600000000000000"/>
            </a:endParaRPr>
          </a:p>
          <a:p>
            <a:pPr marL="342900" indent="-342900">
              <a:buFontTx/>
              <a:buChar char="-"/>
            </a:pP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'compound’</a:t>
            </a:r>
            <a:r>
              <a:rPr lang="ko-KR" altLang="en-US" sz="2200" dirty="0">
                <a:ea typeface="a아시아헤드2" panose="02020600000000000000"/>
              </a:rPr>
              <a:t> </a:t>
            </a:r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neg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neu</a:t>
            </a:r>
            <a:r>
              <a:rPr lang="en-US" altLang="ko-KR" sz="2200" dirty="0">
                <a:ea typeface="a아시아헤드2" panose="02020600000000000000"/>
              </a:rPr>
              <a:t>, 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pos</a:t>
            </a:r>
            <a:r>
              <a:rPr lang="ko-KR" altLang="en-US" sz="2200" dirty="0">
                <a:ea typeface="a아시아헤드2" panose="02020600000000000000"/>
              </a:rPr>
              <a:t>를 합성해 만든 종합 감성 점수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dirty="0">
                <a:ea typeface="a아시아헤드2" panose="02020600000000000000"/>
              </a:rPr>
              <a:t>값 범위</a:t>
            </a:r>
            <a:r>
              <a:rPr lang="en-US" altLang="ko-KR" sz="2200" dirty="0">
                <a:ea typeface="a아시아헤드2" panose="02020600000000000000"/>
              </a:rPr>
              <a:t>: –1 ~ 1</a:t>
            </a:r>
            <a:endParaRPr lang="ko-KR" altLang="en-US" sz="2200" dirty="0">
              <a:ea typeface="a아시아헤드2" panose="0202060000000000000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–1</a:t>
            </a:r>
            <a:r>
              <a:rPr lang="ko-KR" altLang="en-US" sz="2200" dirty="0">
                <a:ea typeface="a아시아헤드2" panose="02020600000000000000"/>
              </a:rPr>
              <a:t>에 가까울수록 매우 부정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+1</a:t>
            </a:r>
            <a:r>
              <a:rPr lang="ko-KR" altLang="en-US" sz="2200" dirty="0">
                <a:ea typeface="a아시아헤드2" panose="02020600000000000000"/>
              </a:rPr>
              <a:t>에 가까울수록 매우 긍정</a:t>
            </a:r>
          </a:p>
          <a:p>
            <a:pPr>
              <a:buNone/>
            </a:pPr>
            <a:endParaRPr lang="ko-KR" altLang="en-US" sz="2200" dirty="0">
              <a:ea typeface="a아시아헤드2" panose="02020600000000000000"/>
            </a:endParaRPr>
          </a:p>
          <a:p>
            <a:pPr>
              <a:buNone/>
            </a:pPr>
            <a:r>
              <a:rPr lang="en-US" altLang="ko-KR" sz="2200" b="1" dirty="0">
                <a:ea typeface="a아시아헤드2" panose="02020600000000000000"/>
              </a:rPr>
              <a:t>6-2-4. VADER</a:t>
            </a:r>
            <a:r>
              <a:rPr lang="ko-KR" altLang="en-US" sz="2200" b="1" dirty="0">
                <a:ea typeface="a아시아헤드2" panose="02020600000000000000"/>
              </a:rPr>
              <a:t>로 문서별 감성 분류 기준</a:t>
            </a:r>
            <a:endParaRPr lang="en-US" altLang="ko-KR" sz="2200" b="1" dirty="0">
              <a:ea typeface="a아시아헤드2" panose="02020600000000000000"/>
            </a:endParaRPr>
          </a:p>
          <a:p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일반적으로 </a:t>
            </a:r>
            <a:r>
              <a:rPr lang="en-US" altLang="ko-KR" sz="2200" dirty="0">
                <a:latin typeface="Courier New" panose="02070309020205020404" pitchFamily="49" charset="0"/>
                <a:ea typeface="a아시아헤드2" panose="02020600000000000000"/>
              </a:rPr>
              <a:t>compound</a:t>
            </a:r>
            <a:r>
              <a:rPr lang="ko-KR" altLang="en-US" sz="2200" dirty="0">
                <a:ea typeface="a아시아헤드2" panose="02020600000000000000"/>
              </a:rPr>
              <a:t> 점수를 기준으로 감성 판단</a:t>
            </a:r>
            <a:endParaRPr lang="en-US" altLang="ko-KR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compound ≥ 0.1 → </a:t>
            </a:r>
            <a:r>
              <a:rPr lang="ko-KR" altLang="en-US" sz="2200" dirty="0">
                <a:ea typeface="a아시아헤드2" panose="02020600000000000000"/>
              </a:rPr>
              <a:t>긍정 </a:t>
            </a:r>
            <a:r>
              <a:rPr lang="en-US" altLang="ko-KR" sz="2200" dirty="0">
                <a:ea typeface="a아시아헤드2" panose="02020600000000000000"/>
              </a:rPr>
              <a:t>(1)</a:t>
            </a:r>
            <a:endParaRPr lang="ko-KR" altLang="en-US" sz="2200" dirty="0">
              <a:ea typeface="a아시아헤드2" panose="0202060000000000000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a아시아헤드2" panose="02020600000000000000"/>
              </a:rPr>
              <a:t>compound &lt; 0.1 → </a:t>
            </a:r>
            <a:r>
              <a:rPr lang="ko-KR" altLang="en-US" sz="2200" dirty="0">
                <a:ea typeface="a아시아헤드2" panose="02020600000000000000"/>
              </a:rPr>
              <a:t>부정 </a:t>
            </a:r>
            <a:r>
              <a:rPr lang="en-US" altLang="ko-KR" sz="2200" dirty="0">
                <a:ea typeface="a아시아헤드2" panose="02020600000000000000"/>
              </a:rPr>
              <a:t>(0)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sz="2200" dirty="0">
              <a:ea typeface="a아시아헤드2" panose="02020600000000000000"/>
            </a:endParaRPr>
          </a:p>
          <a:p>
            <a:r>
              <a:rPr lang="en-US" altLang="ko-KR" sz="2200" dirty="0">
                <a:ea typeface="a아시아헤드2" panose="02020600000000000000"/>
              </a:rPr>
              <a:t>* </a:t>
            </a:r>
            <a:r>
              <a:rPr lang="ko-KR" altLang="en-US" sz="2200" dirty="0">
                <a:ea typeface="a아시아헤드2" panose="02020600000000000000"/>
              </a:rPr>
              <a:t>이때의 </a:t>
            </a:r>
            <a:r>
              <a:rPr lang="en-US" altLang="ko-KR" sz="2200" dirty="0">
                <a:ea typeface="a아시아헤드2" panose="02020600000000000000"/>
              </a:rPr>
              <a:t>0.1</a:t>
            </a:r>
            <a:r>
              <a:rPr lang="ko-KR" altLang="en-US" sz="2200" dirty="0">
                <a:ea typeface="a아시아헤드2" panose="02020600000000000000"/>
              </a:rPr>
              <a:t>이 </a:t>
            </a:r>
            <a:r>
              <a:rPr lang="ko-KR" altLang="en-US" sz="2200" dirty="0" err="1">
                <a:ea typeface="a아시아헤드2" panose="02020600000000000000"/>
              </a:rPr>
              <a:t>임계값</a:t>
            </a:r>
            <a:endParaRPr lang="en-US" altLang="ko-KR" sz="2200" dirty="0">
              <a:ea typeface="a아시아헤드2" panose="02020600000000000000"/>
            </a:endParaRPr>
          </a:p>
          <a:p>
            <a:r>
              <a:rPr lang="en-US" altLang="ko-KR" sz="2200" dirty="0">
                <a:ea typeface="a아시아헤드2" panose="02020600000000000000"/>
              </a:rPr>
              <a:t>: </a:t>
            </a:r>
            <a:r>
              <a:rPr lang="ko-KR" altLang="en-US" sz="2200" dirty="0">
                <a:ea typeface="a아시아헤드2" panose="02020600000000000000"/>
              </a:rPr>
              <a:t>상황에 따라 이 값을 높이거나 낮추면서 정밀도</a:t>
            </a:r>
            <a:r>
              <a:rPr lang="en-US" altLang="ko-KR" sz="2200" dirty="0">
                <a:ea typeface="a아시아헤드2" panose="02020600000000000000"/>
              </a:rPr>
              <a:t>/</a:t>
            </a:r>
            <a:r>
              <a:rPr lang="ko-KR" altLang="en-US" sz="2200" dirty="0">
                <a:ea typeface="a아시아헤드2" panose="02020600000000000000"/>
              </a:rPr>
              <a:t>재현율을 조절</a:t>
            </a:r>
            <a:endParaRPr lang="en-US" altLang="ko-KR" sz="2200" dirty="0">
              <a:ea typeface="a아시아헤드2" panose="0202060000000000000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E025440-513D-B4E5-7F47-02DF313A3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54" y="6583969"/>
            <a:ext cx="8072215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88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8743B-59CA-0E49-690F-3AC823EA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BFEAD52A-9D88-A2C5-A780-D0A1D0A52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C6C6B-BA37-1C04-B9F3-6213CC37CADE}"/>
              </a:ext>
            </a:extLst>
          </p:cNvPr>
          <p:cNvSpPr txBox="1"/>
          <p:nvPr/>
        </p:nvSpPr>
        <p:spPr>
          <a:xfrm>
            <a:off x="164955" y="220189"/>
            <a:ext cx="173270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</a:rPr>
              <a:t>#</a:t>
            </a:r>
            <a:r>
              <a:rPr lang="en-US" altLang="ko-KR" sz="4800" b="1" dirty="0">
                <a:latin typeface="a아시아헤드2" panose="02020600000000000000" pitchFamily="18" charset="-127"/>
                <a:ea typeface="a아시아헤드2"/>
                <a:cs typeface="+mn-lt"/>
              </a:rPr>
              <a:t>6 </a:t>
            </a:r>
            <a:r>
              <a:rPr lang="en-US" altLang="ko-KR" sz="4800" b="1" dirty="0"/>
              <a:t>VADER</a:t>
            </a:r>
            <a:r>
              <a:rPr lang="ko-KR" altLang="en-US" sz="4800" b="1" dirty="0"/>
              <a:t>를 이용한 감성분석</a:t>
            </a:r>
            <a:endParaRPr lang="ko-KR" altLang="en-US" sz="4800" b="1" dirty="0">
              <a:latin typeface="a아시아헤드2" panose="02020600000000000000" pitchFamily="18" charset="-127"/>
              <a:ea typeface="a아시아헤드2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2FB2862-EACB-413B-AA86-7F20B8694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630854"/>
              </p:ext>
            </p:extLst>
          </p:nvPr>
        </p:nvGraphicFramePr>
        <p:xfrm>
          <a:off x="9144000" y="5517882"/>
          <a:ext cx="7915275" cy="162830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638425">
                  <a:extLst>
                    <a:ext uri="{9D8B030D-6E8A-4147-A177-3AD203B41FA5}">
                      <a16:colId xmlns:a16="http://schemas.microsoft.com/office/drawing/2014/main" val="1068930665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371294336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72899603"/>
                    </a:ext>
                  </a:extLst>
                </a:gridCol>
              </a:tblGrid>
              <a:tr h="4070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평가 지표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SentiWordNet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VADER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187436"/>
                  </a:ext>
                </a:extLst>
              </a:tr>
              <a:tr h="4070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0.6092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0.6976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714369"/>
                  </a:ext>
                </a:extLst>
              </a:tr>
              <a:tr h="4070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정밀도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0.5697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0.6519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434819"/>
                  </a:ext>
                </a:extLst>
              </a:tr>
              <a:tr h="4070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재현율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0.7091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0.8478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13355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9018AC3-882B-DC86-2A11-BA1737E7BD67}"/>
              </a:ext>
            </a:extLst>
          </p:cNvPr>
          <p:cNvSpPr txBox="1"/>
          <p:nvPr/>
        </p:nvSpPr>
        <p:spPr>
          <a:xfrm>
            <a:off x="9153523" y="7552489"/>
            <a:ext cx="78200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정확도</a:t>
            </a:r>
            <a:r>
              <a:rPr lang="en-US" altLang="ko-KR" sz="2400" dirty="0">
                <a:ea typeface="a아시아헤드2" panose="02020600000000000000"/>
              </a:rPr>
              <a:t>(Accuracy): VADER</a:t>
            </a:r>
            <a:r>
              <a:rPr lang="ko-KR" altLang="en-US" sz="2400" dirty="0">
                <a:ea typeface="a아시아헤드2" panose="02020600000000000000"/>
              </a:rPr>
              <a:t>가 </a:t>
            </a:r>
            <a:r>
              <a:rPr lang="en-US" altLang="ko-KR" sz="2400" dirty="0">
                <a:ea typeface="a아시아헤드2" panose="02020600000000000000"/>
              </a:rPr>
              <a:t>0.6613 → 0.6956</a:t>
            </a:r>
            <a:r>
              <a:rPr lang="ko-KR" altLang="en-US" sz="2400" dirty="0">
                <a:ea typeface="a아시아헤드2" panose="02020600000000000000"/>
              </a:rPr>
              <a:t>로 향상</a:t>
            </a:r>
            <a:endParaRPr lang="en-US" altLang="ko-KR" sz="24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>
                <a:ea typeface="a아시아헤드2" panose="02020600000000000000"/>
              </a:rPr>
              <a:t>정밀도</a:t>
            </a:r>
            <a:r>
              <a:rPr lang="en-US" altLang="ko-KR" sz="2400" dirty="0">
                <a:ea typeface="a아시아헤드2" panose="02020600000000000000"/>
              </a:rPr>
              <a:t>(Precision): 0.6472 → 0.6491</a:t>
            </a:r>
            <a:r>
              <a:rPr lang="ko-KR" altLang="en-US" sz="2400" dirty="0">
                <a:ea typeface="a아시아헤드2" panose="02020600000000000000"/>
              </a:rPr>
              <a:t>로 상승</a:t>
            </a:r>
            <a:endParaRPr lang="en-US" altLang="ko-KR" sz="24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 err="1">
                <a:ea typeface="a아시아헤드2" panose="02020600000000000000"/>
              </a:rPr>
              <a:t>재현율</a:t>
            </a:r>
            <a:r>
              <a:rPr lang="en-US" altLang="ko-KR" sz="2400" dirty="0">
                <a:ea typeface="a아시아헤드2" panose="02020600000000000000"/>
              </a:rPr>
              <a:t>(Recall): 0.7091 → 0.8514</a:t>
            </a:r>
            <a:r>
              <a:rPr lang="ko-KR" altLang="en-US" sz="2400" dirty="0">
                <a:ea typeface="a아시아헤드2" panose="02020600000000000000"/>
              </a:rPr>
              <a:t>로 매우 큰 폭으로 향상</a:t>
            </a:r>
            <a:endParaRPr lang="en-US" altLang="ko-KR" sz="2400" dirty="0">
              <a:ea typeface="a아시아헤드2" panose="0202060000000000000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sz="2400" dirty="0">
              <a:ea typeface="a아시아헤드2" panose="02020600000000000000"/>
            </a:endParaRPr>
          </a:p>
          <a:p>
            <a:r>
              <a:rPr lang="en-US" altLang="ko-KR" sz="2400" dirty="0">
                <a:ea typeface="a아시아헤드2" panose="02020600000000000000"/>
              </a:rPr>
              <a:t>→ VADER</a:t>
            </a:r>
            <a:r>
              <a:rPr lang="ko-KR" altLang="en-US" sz="2400" dirty="0">
                <a:ea typeface="a아시아헤드2" panose="02020600000000000000"/>
              </a:rPr>
              <a:t>가 긍정</a:t>
            </a:r>
            <a:r>
              <a:rPr lang="en-US" altLang="ko-KR" sz="2400" dirty="0">
                <a:ea typeface="a아시아헤드2" panose="02020600000000000000"/>
              </a:rPr>
              <a:t>/</a:t>
            </a:r>
            <a:r>
              <a:rPr lang="ko-KR" altLang="en-US" sz="2400" dirty="0">
                <a:ea typeface="a아시아헤드2" panose="02020600000000000000"/>
              </a:rPr>
              <a:t>부정 중 특정 클래스</a:t>
            </a:r>
            <a:r>
              <a:rPr lang="en-US" altLang="ko-KR" sz="2400" dirty="0">
                <a:ea typeface="a아시아헤드2" panose="02020600000000000000"/>
              </a:rPr>
              <a:t>(</a:t>
            </a:r>
            <a:r>
              <a:rPr lang="ko-KR" altLang="en-US" sz="2400" dirty="0">
                <a:ea typeface="a아시아헤드2" panose="02020600000000000000"/>
              </a:rPr>
              <a:t>주로 긍정</a:t>
            </a:r>
            <a:r>
              <a:rPr lang="en-US" altLang="ko-KR" sz="2400" dirty="0">
                <a:ea typeface="a아시아헤드2" panose="02020600000000000000"/>
              </a:rPr>
              <a:t>)</a:t>
            </a:r>
            <a:r>
              <a:rPr lang="ko-KR" altLang="en-US" sz="2400" dirty="0">
                <a:ea typeface="a아시아헤드2" panose="02020600000000000000"/>
              </a:rPr>
              <a:t>를 더 잘 놓치지 않고 잡아냄</a:t>
            </a:r>
            <a:endParaRPr lang="en-US" altLang="ko-KR" sz="2400" dirty="0">
              <a:ea typeface="a아시아헤드2" panose="0202060000000000000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2B4C4F1-5A05-4F08-10DB-39911C83F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99" y="1658261"/>
            <a:ext cx="8715376" cy="712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944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3C658A-8DC8-4BDA-8B30-3A8E5E38D40C}"/>
              </a:ext>
            </a:extLst>
          </p:cNvPr>
          <p:cNvSpPr txBox="1"/>
          <p:nvPr/>
        </p:nvSpPr>
        <p:spPr>
          <a:xfrm>
            <a:off x="661851" y="6078583"/>
            <a:ext cx="1188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b="1" dirty="0">
                <a:latin typeface="a아시아헤드2" panose="02020600000000000000" pitchFamily="18" charset="-127"/>
                <a:ea typeface="a아시아헤드2" panose="02020600000000000000" pitchFamily="18" charset="-127"/>
              </a:rPr>
              <a:t>THANK YOU</a:t>
            </a:r>
            <a:endParaRPr lang="ko-KR" altLang="en-US" sz="8800" b="1" dirty="0"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3738</Words>
  <Application>Microsoft Office PowerPoint</Application>
  <PresentationFormat>사용자 지정</PresentationFormat>
  <Paragraphs>645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2" baseType="lpstr">
      <vt:lpstr>a뉴굴림1</vt:lpstr>
      <vt:lpstr>a아시아헤드1</vt:lpstr>
      <vt:lpstr>a아시아헤드2</vt:lpstr>
      <vt:lpstr>a아시아헤드4</vt:lpstr>
      <vt:lpstr>Batang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준규 박</cp:lastModifiedBy>
  <cp:revision>4</cp:revision>
  <dcterms:created xsi:type="dcterms:W3CDTF">2022-02-26T11:26:54Z</dcterms:created>
  <dcterms:modified xsi:type="dcterms:W3CDTF">2025-11-24T12:54:32Z</dcterms:modified>
</cp:coreProperties>
</file>